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05e5290-0a9a-fae6-a510-3efbd55af88a}">
          <p14:sldIdLst>
            <p14:sldId id="256"/>
          </p14:sldIdLst>
        </p14:section>
        <p14:section name="Build" id="{aecfe53d-499d-c57b-c2cb-5049db456592}">
          <p14:sldIdLst>
            <p14:sldId id="257"/>
            <p14:sldId id="258"/>
            <p14:sldId id="259"/>
          </p14:sldIdLst>
        </p14:section>
        <p14:section name="Prune" id="{534dd6b0-d129-3d2e-e8fa-9e16166ed225}">
          <p14:sldIdLst>
            <p14:sldId id="260"/>
            <p14:sldId id="261"/>
            <p14:sldId id="262"/>
          </p14:sldIdLst>
        </p14:section>
        <p14:section name="Prove" id="{6f3bb01f-8cc4-5f33-5e26-41ab985e76d9}">
          <p14:sldIdLst>
            <p14:sldId id="263"/>
            <p14:sldId id="264"/>
            <p14:sldId id="265"/>
          </p14:sldIdLst>
        </p14:section>
        <p14:section name="Ship" id="{b89796e2-5c1b-428b-73b4-7d32f34b3a2b}">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A3C"/>
                </a:solidFill>
                <a:latin typeface="+mn-lt"/>
              </a:defRPr>
            </a:pPr>
            <a:r>
              <a:rPr sz="1200" b="0" i="0" u="none" strike="noStrike">
                <a:solidFill>
                  <a:srgbClr val="0B2A3C"/>
                </a:solidFill>
                <a:latin typeface="+mn-lt"/>
              </a:rPr>
              <a:t>Rank correlation with true loss increase</a:t>
            </a:r>
          </a:p>
        </c:rich>
      </c:tx>
      <c:layout/>
      <c:overlay val="0"/>
    </c:title>
    <c:autoTitleDeleted val="0"/>
    <c:plotArea>
      <c:layout/>
      <c:barChart>
        <c:barDir val="col"/>
        <c:grouping val="clustered"/>
        <c:varyColors val="0"/>
        <c:ser>
          <c:idx val="0"/>
          <c:order val="0"/>
          <c:tx>
            <c:strRef>
              <c:f>Sheet1!$B$1</c:f>
              <c:strCache>
                <c:ptCount val="1"/>
                <c:pt idx="0">
                  <c:v>Spearman vs true loss increase</c:v>
                </c:pt>
              </c:strCache>
            </c:strRef>
          </c:tx>
          <c:spPr>
            <a:solidFill>
              <a:srgbClr val="5B8DB8"/>
            </a:solidFill>
            <a:effectLst/>
          </c:spPr>
          <c:invertIfNegative val="0"/>
          <c:dLbls>
            <c:numFmt formatCode="0.00" sourceLinked="0"/>
            <c:txPr>
              <a:bodyPr/>
              <a:lstStyle/>
              <a:p>
                <a:pPr>
                  <a:defRPr b="0" i="0" strike="noStrike" sz="1200" u="none">
                    <a:solidFill>
                      <a:srgbClr val="0B2A3C"/>
                    </a:solidFill>
                    <a:latin typeface="+mn-lt"/>
                  </a:defRPr>
                </a:pPr>
              </a:p>
            </c:txPr>
            <c:showLegendKey val="0"/>
            <c:showVal val="1"/>
            <c:showCatName val="0"/>
            <c:showSerName val="0"/>
            <c:showPercent val="0"/>
            <c:showBubbleSize val="0"/>
            <c:showLeaderLines val="0"/>
          </c:dLbls>
          <c:dPt>
            <c:idx val="0"/>
            <c:invertIfNegative val="0"/>
            <c:bubble3D val="0"/>
            <c:spPr>
              <a:solidFill>
                <a:srgbClr val="5B8DB8"/>
              </a:solidFill>
              <a:effectLst/>
            </c:spPr>
          </c:dPt>
          <c:dPt>
            <c:idx val="1"/>
            <c:invertIfNegative val="0"/>
            <c:bubble3D val="0"/>
            <c:spPr>
              <a:solidFill>
                <a:srgbClr val="5B8DB8"/>
              </a:solidFill>
              <a:effectLst/>
            </c:spPr>
          </c:dPt>
          <c:dPt>
            <c:idx val="2"/>
            <c:invertIfNegative val="0"/>
            <c:bubble3D val="0"/>
            <c:spPr>
              <a:solidFill>
                <a:srgbClr val="0E7C86"/>
              </a:solidFill>
              <a:effectLst/>
            </c:spPr>
          </c:dPt>
          <c:cat>
            <c:multiLvlStrRef>
              <c:f>Sheet1!$A$2:$A$4</c:f>
              <c:multiLvlStrCache>
                <c:ptCount val="3"/>
                <c:lvl>
                  <c:pt idx="0">
                    <c:v>Magnitude</c:v>
                  </c:pt>
                  <c:pt idx="1">
                    <c:v>Taylor</c:v>
                  </c:pt>
                  <c:pt idx="2">
                    <c:v>Fisher</c:v>
                  </c:pt>
                </c:lvl>
              </c:multiLvlStrCache>
            </c:multiLvlStrRef>
          </c:cat>
          <c:val>
            <c:numRef>
              <c:f>Sheet1!$B$2:$B$4</c:f>
              <c:numCache>
                <c:formatCode>General</c:formatCode>
                <c:ptCount val="3"/>
                <c:pt idx="0">
                  <c:v>0.51</c:v>
                </c:pt>
                <c:pt idx="1">
                  <c:v>0.55</c:v>
                </c:pt>
                <c:pt idx="2">
                  <c:v>0.65</c:v>
                </c:pt>
              </c:numCache>
            </c:numRef>
          </c:val>
        </c:ser>
        <c:dLbls>
          <c:numFmt formatCode="0.00" sourceLinked="0"/>
          <c:txPr>
            <a:bodyPr/>
            <a:lstStyle/>
            <a:p>
              <a:pPr>
                <a:defRPr b="0" i="0" strike="noStrike" sz="1200" u="none">
                  <a:solidFill>
                    <a:srgbClr val="0B2A3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E5563"/>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D5E4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E5563"/>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Magnitude</c:v>
                </c:pt>
              </c:strCache>
            </c:strRef>
          </c:tx>
          <c:spPr>
            <a:solidFill>
              <a:srgbClr val="5B8DB8"/>
            </a:solidFill>
            <a:ln w="31750" cap="flat">
              <a:solidFill>
                <a:srgbClr val="5B8D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5B8DB8"/>
              </a:solidFill>
              <a:ln w="9525" cap="flat">
                <a:solidFill>
                  <a:srgbClr val="5B8DB8"/>
                </a:solidFill>
                <a:prstDash val="solid"/>
                <a:round/>
              </a:ln>
              <a:effectLst/>
            </c:spPr>
          </c:marker>
          <c:cat>
            <c:multiLvlStrRef>
              <c:f>Sheet1!$A$2:$A$8</c:f>
              <c:multiLvlStrCache>
                <c:ptCount val="7"/>
                <c:lvl>
                  <c:pt idx="0">
                    <c:v>0%</c:v>
                  </c:pt>
                  <c:pt idx="1">
                    <c:v>50%</c:v>
                  </c:pt>
                  <c:pt idx="2">
                    <c:v>75%</c:v>
                  </c:pt>
                  <c:pt idx="3">
                    <c:v>90%</c:v>
                  </c:pt>
                  <c:pt idx="4">
                    <c:v>95%</c:v>
                  </c:pt>
                  <c:pt idx="5">
                    <c:v>98%</c:v>
                  </c:pt>
                  <c:pt idx="6">
                    <c:v>99%</c:v>
                  </c:pt>
                </c:lvl>
              </c:multiLvlStrCache>
            </c:multiLvlStrRef>
          </c:cat>
          <c:val>
            <c:numRef>
              <c:f>Sheet1!$B$2:$B$8</c:f>
              <c:numCache>
                <c:formatCode>General</c:formatCode>
                <c:ptCount val="7"/>
                <c:pt idx="0">
                  <c:v>98.16</c:v>
                </c:pt>
                <c:pt idx="1">
                  <c:v>97.99</c:v>
                </c:pt>
                <c:pt idx="2">
                  <c:v>98.19</c:v>
                </c:pt>
                <c:pt idx="3">
                  <c:v>98.12</c:v>
                </c:pt>
                <c:pt idx="4">
                  <c:v>98.02</c:v>
                </c:pt>
                <c:pt idx="5">
                  <c:v>97.57</c:v>
                </c:pt>
                <c:pt idx="6">
                  <c:v>96.74</c:v>
                </c:pt>
              </c:numCache>
            </c:numRef>
          </c:val>
          <c:smooth val="0"/>
        </c:ser>
        <c:ser>
          <c:idx val="1"/>
          <c:order val="1"/>
          <c:tx>
            <c:strRef>
              <c:f>Sheet1!$C$1</c:f>
              <c:strCache>
                <c:ptCount val="1"/>
                <c:pt idx="0">
                  <c:v>Fisher</c:v>
                </c:pt>
              </c:strCache>
            </c:strRef>
          </c:tx>
          <c:spPr>
            <a:solidFill>
              <a:srgbClr val="F2994A"/>
            </a:solidFill>
            <a:ln w="31750" cap="flat">
              <a:solidFill>
                <a:srgbClr val="F299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F2994A"/>
              </a:solidFill>
              <a:ln w="9525" cap="flat">
                <a:solidFill>
                  <a:srgbClr val="F2994A"/>
                </a:solidFill>
                <a:prstDash val="solid"/>
                <a:round/>
              </a:ln>
              <a:effectLst/>
            </c:spPr>
          </c:marker>
          <c:cat>
            <c:multiLvlStrRef>
              <c:f>Sheet1!$A$2:$A$8</c:f>
              <c:multiLvlStrCache>
                <c:ptCount val="7"/>
                <c:lvl>
                  <c:pt idx="0">
                    <c:v>0%</c:v>
                  </c:pt>
                  <c:pt idx="1">
                    <c:v>50%</c:v>
                  </c:pt>
                  <c:pt idx="2">
                    <c:v>75%</c:v>
                  </c:pt>
                  <c:pt idx="3">
                    <c:v>90%</c:v>
                  </c:pt>
                  <c:pt idx="4">
                    <c:v>95%</c:v>
                  </c:pt>
                  <c:pt idx="5">
                    <c:v>98%</c:v>
                  </c:pt>
                  <c:pt idx="6">
                    <c:v>99%</c:v>
                  </c:pt>
                </c:lvl>
              </c:multiLvlStrCache>
            </c:multiLvlStrRef>
          </c:cat>
          <c:val>
            <c:numRef>
              <c:f>Sheet1!$C$2:$C$8</c:f>
              <c:numCache>
                <c:formatCode>General</c:formatCode>
                <c:ptCount val="7"/>
                <c:pt idx="0">
                  <c:v>98.16</c:v>
                </c:pt>
                <c:pt idx="1">
                  <c:v>97.95</c:v>
                </c:pt>
                <c:pt idx="2">
                  <c:v>97.95</c:v>
                </c:pt>
                <c:pt idx="3">
                  <c:v>98.33</c:v>
                </c:pt>
                <c:pt idx="4">
                  <c:v>98.06</c:v>
                </c:pt>
                <c:pt idx="5">
                  <c:v>97.33</c:v>
                </c:pt>
                <c:pt idx="6">
                  <c:v>96.56</c:v>
                </c:pt>
              </c:numCache>
            </c:numRef>
          </c:val>
          <c:smooth val="0"/>
        </c:ser>
        <c:ser>
          <c:idx val="2"/>
          <c:order val="2"/>
          <c:tx>
            <c:strRef>
              <c:f>Sheet1!$D$1</c:f>
              <c:strCache>
                <c:ptCount val="1"/>
                <c:pt idx="0">
                  <c:v>Fisher + regrow</c:v>
                </c:pt>
              </c:strCache>
            </c:strRef>
          </c:tx>
          <c:spPr>
            <a:solidFill>
              <a:srgbClr val="0E7C86"/>
            </a:solidFill>
            <a:ln w="31750" cap="flat">
              <a:solidFill>
                <a:srgbClr val="0E7C8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E7C86"/>
              </a:solidFill>
              <a:ln w="9525" cap="flat">
                <a:solidFill>
                  <a:srgbClr val="0E7C86"/>
                </a:solidFill>
                <a:prstDash val="solid"/>
                <a:round/>
              </a:ln>
              <a:effectLst/>
            </c:spPr>
          </c:marker>
          <c:cat>
            <c:multiLvlStrRef>
              <c:f>Sheet1!$A$2:$A$8</c:f>
              <c:multiLvlStrCache>
                <c:ptCount val="7"/>
                <c:lvl>
                  <c:pt idx="0">
                    <c:v>0%</c:v>
                  </c:pt>
                  <c:pt idx="1">
                    <c:v>50%</c:v>
                  </c:pt>
                  <c:pt idx="2">
                    <c:v>75%</c:v>
                  </c:pt>
                  <c:pt idx="3">
                    <c:v>90%</c:v>
                  </c:pt>
                  <c:pt idx="4">
                    <c:v>95%</c:v>
                  </c:pt>
                  <c:pt idx="5">
                    <c:v>98%</c:v>
                  </c:pt>
                  <c:pt idx="6">
                    <c:v>99%</c:v>
                  </c:pt>
                </c:lvl>
              </c:multiLvlStrCache>
            </c:multiLvlStrRef>
          </c:cat>
          <c:val>
            <c:numRef>
              <c:f>Sheet1!$D$2:$D$8</c:f>
              <c:numCache>
                <c:formatCode>General</c:formatCode>
                <c:ptCount val="7"/>
                <c:pt idx="0">
                  <c:v>98.16</c:v>
                </c:pt>
                <c:pt idx="1">
                  <c:v>98.26</c:v>
                </c:pt>
                <c:pt idx="2">
                  <c:v>98.26</c:v>
                </c:pt>
                <c:pt idx="3">
                  <c:v>97.99</c:v>
                </c:pt>
                <c:pt idx="4">
                  <c:v>98.09</c:v>
                </c:pt>
                <c:pt idx="5">
                  <c:v>97.5</c:v>
                </c:pt>
                <c:pt idx="6">
                  <c:v>97.26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3E5563"/>
                    </a:solidFill>
                    <a:latin typeface="+mn-lt"/>
                  </a:defRPr>
                </a:pPr>
                <a:r>
                  <a:rPr sz="1200" b="0" i="0" u="none" strike="noStrike">
                    <a:solidFill>
                      <a:srgbClr val="3E5563"/>
                    </a:solidFill>
                    <a:latin typeface="+mn-lt"/>
                  </a:rPr>
                  <a:t>Sparsity (fraction of weights removed)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E5563"/>
                </a:solidFill>
                <a:latin typeface="+mn-lt"/>
              </a:defRPr>
            </a:pPr>
            <a:endParaRPr lang="en-US"/>
          </a:p>
        </c:txPr>
        <c:crossAx val="2094734552"/>
        <c:crosses val="autoZero"/>
        <c:auto val="1"/>
        <c:lblAlgn val="ctr"/>
        <c:noMultiLvlLbl val="1"/>
      </c:catAx>
      <c:valAx>
        <c:axId val="2094734552"/>
        <c:scaling>
          <c:orientation val="minMax"/>
          <c:max val="99"/>
          <c:min val="96"/>
        </c:scaling>
        <c:delete val="0"/>
        <c:axPos val="l"/>
        <c:majorGridlines>
          <c:spPr>
            <a:ln w="6350" cap="flat">
              <a:solidFill>
                <a:srgbClr val="D5E4E8"/>
              </a:solidFill>
              <a:prstDash val="solid"/>
              <a:round/>
            </a:ln>
          </c:spPr>
        </c:majorGridlines>
        <c:title>
          <c:tx>
            <c:rich>
              <a:bodyPr/>
              <a:lstStyle/>
              <a:p>
                <a:pPr>
                  <a:defRPr sz="1200" b="0" i="0" u="none" strike="noStrike">
                    <a:solidFill>
                      <a:srgbClr val="3E5563"/>
                    </a:solidFill>
                    <a:latin typeface="+mn-lt"/>
                  </a:defRPr>
                </a:pPr>
                <a:r>
                  <a:rPr sz="1200" b="0" i="0" u="none" strike="noStrike">
                    <a:solidFill>
                      <a:srgbClr val="3E5563"/>
                    </a:solidFill>
                    <a:latin typeface="+mn-lt"/>
                  </a:rPr>
                  <a:t>Test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E5563"/>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200">
              <a:solidFill>
                <a:srgbClr val="3E556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A3C"/>
                </a:solidFill>
                <a:latin typeface="+mn-lt"/>
              </a:defRPr>
            </a:pPr>
            <a:r>
              <a:rPr sz="1200" b="0" i="0" u="none" strike="noStrike">
                <a:solidFill>
                  <a:srgbClr val="0B2A3C"/>
                </a:solidFill>
                <a:latin typeface="+mn-lt"/>
              </a:rPr>
              <a:t>Inference latency, batch 64 (microseconds, log scale)</a:t>
            </a:r>
          </a:p>
        </c:rich>
      </c:tx>
      <c:layout/>
      <c:overlay val="0"/>
    </c:title>
    <c:autoTitleDeleted val="0"/>
    <c:plotArea>
      <c:layout/>
      <c:barChart>
        <c:barDir val="col"/>
        <c:grouping val="clustered"/>
        <c:varyColors val="0"/>
        <c:ser>
          <c:idx val="0"/>
          <c:order val="0"/>
          <c:tx>
            <c:strRef>
              <c:f>Sheet1!$B$1</c:f>
              <c:strCache>
                <c:ptCount val="1"/>
                <c:pt idx="0">
                  <c:v>Dense x zero</c:v>
                </c:pt>
              </c:strCache>
            </c:strRef>
          </c:tx>
          <c:spPr>
            <a:solidFill>
              <a:srgbClr val="5B8DB8"/>
            </a:solidFill>
            <a:effectLst/>
          </c:spPr>
          <c:invertIfNegative val="0"/>
          <c:dLbls>
            <c:numFmt formatCode="#,##0" sourceLinked="0"/>
            <c:txPr>
              <a:bodyPr/>
              <a:lstStyle/>
              <a:p>
                <a:pPr>
                  <a:defRPr b="0" i="0" strike="noStrike" sz="1000" u="none">
                    <a:solidFill>
                      <a:srgbClr val="0B2A3C"/>
                    </a:solidFill>
                    <a:latin typeface="+mn-lt"/>
                  </a:defRPr>
                </a:pPr>
              </a:p>
            </c:txPr>
            <c:showLegendKey val="0"/>
            <c:showVal val="1"/>
            <c:showCatName val="0"/>
            <c:showSerName val="0"/>
            <c:showPercent val="0"/>
            <c:showBubbleSize val="0"/>
            <c:showLeaderLines val="0"/>
          </c:dLbls>
          <c:cat>
            <c:multiLvlStrRef>
              <c:f>Sheet1!$A$2:$A$5</c:f>
              <c:multiLvlStrCache>
                <c:ptCount val="4"/>
                <c:lvl>
                  <c:pt idx="0">
                    <c:v>90%</c:v>
                  </c:pt>
                  <c:pt idx="1">
                    <c:v>95%</c:v>
                  </c:pt>
                  <c:pt idx="2">
                    <c:v>98%</c:v>
                  </c:pt>
                  <c:pt idx="3">
                    <c:v>99%</c:v>
                  </c:pt>
                </c:lvl>
              </c:multiLvlStrCache>
            </c:multiLvlStrRef>
          </c:cat>
          <c:val>
            <c:numRef>
              <c:f>Sheet1!$B$2:$B$5</c:f>
              <c:numCache>
                <c:formatCode>General</c:formatCode>
                <c:ptCount val="4"/>
                <c:pt idx="0">
                  <c:v>165</c:v>
                </c:pt>
                <c:pt idx="1">
                  <c:v>165</c:v>
                </c:pt>
                <c:pt idx="2">
                  <c:v>158</c:v>
                </c:pt>
                <c:pt idx="3">
                  <c:v>159</c:v>
                </c:pt>
              </c:numCache>
            </c:numRef>
          </c:val>
        </c:ser>
        <c:ser>
          <c:idx val="1"/>
          <c:order val="1"/>
          <c:tx>
            <c:strRef>
              <c:f>Sheet1!$C$1</c:f>
              <c:strCache>
                <c:ptCount val="1"/>
                <c:pt idx="0">
                  <c:v>My CSC sparse kernel</c:v>
                </c:pt>
              </c:strCache>
            </c:strRef>
          </c:tx>
          <c:spPr>
            <a:solidFill>
              <a:srgbClr val="F2994A"/>
            </a:solidFill>
            <a:effectLst/>
          </c:spPr>
          <c:invertIfNegative val="0"/>
          <c:dLbls>
            <c:numFmt formatCode="#,##0" sourceLinked="0"/>
            <c:txPr>
              <a:bodyPr/>
              <a:lstStyle/>
              <a:p>
                <a:pPr>
                  <a:defRPr b="0" i="0" strike="noStrike" sz="1000" u="none">
                    <a:solidFill>
                      <a:srgbClr val="0B2A3C"/>
                    </a:solidFill>
                    <a:latin typeface="+mn-lt"/>
                  </a:defRPr>
                </a:pPr>
              </a:p>
            </c:txPr>
            <c:showLegendKey val="0"/>
            <c:showVal val="1"/>
            <c:showCatName val="0"/>
            <c:showSerName val="0"/>
            <c:showPercent val="0"/>
            <c:showBubbleSize val="0"/>
            <c:showLeaderLines val="0"/>
          </c:dLbls>
          <c:cat>
            <c:multiLvlStrRef>
              <c:f>Sheet1!$A$2:$A$5</c:f>
              <c:multiLvlStrCache>
                <c:ptCount val="4"/>
                <c:lvl>
                  <c:pt idx="0">
                    <c:v>90%</c:v>
                  </c:pt>
                  <c:pt idx="1">
                    <c:v>95%</c:v>
                  </c:pt>
                  <c:pt idx="2">
                    <c:v>98%</c:v>
                  </c:pt>
                  <c:pt idx="3">
                    <c:v>99%</c:v>
                  </c:pt>
                </c:lvl>
              </c:multiLvlStrCache>
            </c:multiLvlStrRef>
          </c:cat>
          <c:val>
            <c:numRef>
              <c:f>Sheet1!$C$2:$C$5</c:f>
              <c:numCache>
                <c:formatCode>General</c:formatCode>
                <c:ptCount val="4"/>
                <c:pt idx="0">
                  <c:v>1228</c:v>
                </c:pt>
                <c:pt idx="1">
                  <c:v>614</c:v>
                </c:pt>
                <c:pt idx="2">
                  <c:v>290</c:v>
                </c:pt>
                <c:pt idx="3">
                  <c:v>177</c:v>
                </c:pt>
              </c:numCache>
            </c:numRef>
          </c:val>
        </c:ser>
        <c:ser>
          <c:idx val="2"/>
          <c:order val="2"/>
          <c:tx>
            <c:strRef>
              <c:f>Sheet1!$D$1</c:f>
              <c:strCache>
                <c:ptCount val="1"/>
                <c:pt idx="0">
                  <c:v>Compacted dense</c:v>
                </c:pt>
              </c:strCache>
            </c:strRef>
          </c:tx>
          <c:spPr>
            <a:solidFill>
              <a:srgbClr val="0E7C86"/>
            </a:solidFill>
            <a:effectLst/>
          </c:spPr>
          <c:invertIfNegative val="0"/>
          <c:dLbls>
            <c:numFmt formatCode="#,##0" sourceLinked="0"/>
            <c:txPr>
              <a:bodyPr/>
              <a:lstStyle/>
              <a:p>
                <a:pPr>
                  <a:defRPr b="0" i="0" strike="noStrike" sz="1000" u="none">
                    <a:solidFill>
                      <a:srgbClr val="0B2A3C"/>
                    </a:solidFill>
                    <a:latin typeface="+mn-lt"/>
                  </a:defRPr>
                </a:pPr>
              </a:p>
            </c:txPr>
            <c:showLegendKey val="0"/>
            <c:showVal val="1"/>
            <c:showCatName val="0"/>
            <c:showSerName val="0"/>
            <c:showPercent val="0"/>
            <c:showBubbleSize val="0"/>
            <c:showLeaderLines val="0"/>
          </c:dLbls>
          <c:cat>
            <c:multiLvlStrRef>
              <c:f>Sheet1!$A$2:$A$5</c:f>
              <c:multiLvlStrCache>
                <c:ptCount val="4"/>
                <c:lvl>
                  <c:pt idx="0">
                    <c:v>90%</c:v>
                  </c:pt>
                  <c:pt idx="1">
                    <c:v>95%</c:v>
                  </c:pt>
                  <c:pt idx="2">
                    <c:v>98%</c:v>
                  </c:pt>
                  <c:pt idx="3">
                    <c:v>99%</c:v>
                  </c:pt>
                </c:lvl>
              </c:multiLvlStrCache>
            </c:multiLvlStrRef>
          </c:cat>
          <c:val>
            <c:numRef>
              <c:f>Sheet1!$D$2:$D$5</c:f>
              <c:numCache>
                <c:formatCode>General</c:formatCode>
                <c:ptCount val="4"/>
                <c:pt idx="0">
                  <c:v>119</c:v>
                </c:pt>
                <c:pt idx="1">
                  <c:v>75</c:v>
                </c:pt>
                <c:pt idx="2">
                  <c:v>48</c:v>
                </c:pt>
                <c:pt idx="3">
                  <c:v>35</c:v>
                </c:pt>
              </c:numCache>
            </c:numRef>
          </c:val>
        </c:ser>
        <c:dLbls>
          <c:numFmt formatCode="#,##0" sourceLinked="0"/>
          <c:txPr>
            <a:bodyPr/>
            <a:lstStyle/>
            <a:p>
              <a:pPr>
                <a:defRPr b="0" i="0" strike="noStrike" sz="1000" u="none">
                  <a:solidFill>
                    <a:srgbClr val="0B2A3C"/>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E5563"/>
                </a:solidFill>
                <a:latin typeface="+mn-lt"/>
              </a:defRPr>
            </a:pPr>
            <a:endParaRPr lang="en-US"/>
          </a:p>
        </c:txPr>
        <c:crossAx val="2094734552"/>
        <c:crosses val="autoZero"/>
        <c:auto val="1"/>
        <c:lblAlgn val="ctr"/>
        <c:noMultiLvlLbl val="1"/>
      </c:catAx>
      <c:valAx>
        <c:axId val="2094734552"/>
        <c:scaling>
          <c:logBase val="10"/>
          <c:orientation val="minMax"/>
          <c:max val="10000"/>
          <c:min val="10"/>
        </c:scaling>
        <c:delete val="0"/>
        <c:axPos val="l"/>
        <c:majorGridlines>
          <c:spPr>
            <a:ln w="6350" cap="flat">
              <a:solidFill>
                <a:srgbClr val="D5E4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E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E556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my solution to the AQUA take-home. One sentence: I built a neural-net library from scratch in NumPy, trained a classifier that prunes itself while it trains, and measured honestly what that bought. Headline numbers: 99% of weights removed for about 1.5 percentage points of accuracy; 100x fewer multiply-accumulates. I will also tell you what did NOT work, because the brief asks for honesty over flash.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has four parts and I mapped one deliverable to each. Constraints I respected: no PyTorch/TF/JAX; scikit-learn is used only to load the digits dataset, and the README says so explicitly. Everything else (autodiff, optimizer, pruning, loop) is my code. The repo is: aqua-self-pruning-network.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op stores a closure that pushes the output gradient into its parents. Broadcasting is handled by summing the incoming gradient back down to each parent's shape. I check every op against central finite differences in float64, including a deep-graph test (5,000 ops) to prove the backward pass is not recursive. Softmax-CE subtracts the row max before exponentiating, so logits of 1000 do not overflow. A training guard raises if the loss ever becomes non-finite; no run triggered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correctness requirement the brief singles out. W_eff = W times mask. By the chain rule, the gradient w.r.t. the stored weight is the upstream gradient times the mask, so it is exactly zero at pruned slots. But zero gradient alone is not enough with momentum: Adam's m and v are non-zero when you prune mid-training, so the update keeps moving the raw weight. On revival the weight has stale state, and Adam's single global step count under-corrects bias for a slot with no history. My fix: whenever a slot's mask changes, zero that slot's weight, m, v and its own step counter. A revived slot behaves like a fresh parameter at zero: its first step has magnitude exactly lr. I wrote a naive Adam as a negative control; the tests show it violates both invariants and mine does not. Separately I store dense_grad, the gradient w.r.t. the effective weight at every slot including pruned ones, which is the right signal for regrowth.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is a plain MLP of composable Linear + activation layers, trained with my Adam and a mini-batch loop with a fixed seed. Digits (8x8, 1,797 samples) split 1,257 train / 180 validation / 360 test; I tuned only on validation. Initialisation: He normal, variance 2/fan_in, because ReLU zeroes half the activations, so you need the factor 2 to keep the variance constant layer to layer. I ran the ablation: with N(0,1) weights the pre-activation std blows up to 8, 89 and 68 across layers, and the first-epoch loss is 11.2 instead of 0.16. Dense test accuracy is 98.16% averaged over 8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derivation: write the loss change from setting one weight to zero as a second-order Taylor expansion. The first-order term, minus g times w, is noisy near a minimum because the expected gradient is about zero. What remains is one half H times w squared. I use the diagonal empirical Fisher, an EMA of squared gradients, as the Hessian: for cross-entropy it equals the Gauss-Newton matrix, so it is non-negative and a good proxy near convergence. A bonus: the score is in units of loss, so layers can be ranked globally; magnitude cannot do that fairly. I did not just assert this. I deleted 600 random weights one at a time on a trained net, measured the actual loss increase, and computed rank correlation with each score: Fisher 0.65, Taylor 0.55, magnitude 0.51. Caveat: minibatch gradients, a diagonal Hessian, and one trained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 Zhu and Gupta's cubic ramp, s(t) = s_final times (1 - (1 - progress)^3). Warm-up for the first 15% of steps, ramp until 70%, then fine-tune with a frozen mask. Masks are updated every 10 steps. Honest masking: pruned slots are exact zeros in the forward pass and in storage; I assert that on the final model (90.00% exact zeros at a 90% target). Regrowth: prune to K minus r by importance, then revive the r previously-pruned slots with the largest EMA gradient magnitude. Revived weights start at zero with a clean optimizer state. Stability risk: a revived weight has a score near zero and may be pruned again, so I track churn. A bug I found along the way: the per-layer minimum-connection floor exceeded the whole budget at 98% sparsity and collapsed training; it is now capped at half the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Sweep: 0, 50, 75, 90, 95, 98 and 99% target sparsity, five methods, eight seeds each, 248 runs in total. I show the three most informative methods; all five are in results/part4_summary.md and the raw per-run numbers are committed in part4_raw.jsonl, so the plot regenerates from a clean clone. Reading it: accuracy is flat, within noise of the 98.16% dense baseline, out to 95%, and starts to drop at 98%. At 99% (504 of 50,432 weights left) the models still reach 96.6 to 97.3%. The dataset is easy, which is why the curve is so forgiving; I would not claim this transfers to harder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method uses the same seeds, same initialisation and batch order, I compare them as paired differences with a 10,000-resample bootstrap confidence interval, and count the seeds where each wins, loses or ties. Result: no confidence interval excludes zero. The best-looking cell, Fisher with regrowth at 99%, is +0.52 pp with an interval of minus 0.14 to plus 1.15 and wins on 6 of 8 seeds: suggestive, not proven. So the claim I can defend is about the Fisher score ranking weights better, which the single-weight deletion test supports, and not about it improving final accuracy here. To resolve a gap this small I would need a harder dataset, a larger test set, and more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pruned model that is not cheaper is worthless, so I measured three forward paths over the same model. Dense-times-zero is what a naive pruned model does: same work as the unpruned one, so it is not a speedup and I do not count it. My own CSC kernel does work proportional to non-zeros, which cuts multiply-accumulates by 100x at 99%, but it gathers memory irregularly and cannot use BLAS, so in NumPy it is slower than a dense matmul until about 99%. The path that gave a real wall-clock win was structural: remove neurons that cannot affect the output, folding constant neurons into the next bias so outputs are exactly unchanged, and run smaller dense matrices. At 99% and batch 64 that is 35 microseconds versus 159, about 4.5x; at 90% the gain is only about 1.4x. Latencies are from my machine and single-threaded, so treat the ratios as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 would ship it. First, sparsity only pays when it maps to hardware: N:M patterns such as 2:4 on recent GPUs, or pruning whole neurons and heads, which become smaller dense kernels. I measured this effect myself: unstructured sparsity in NumPy lost to BLAS. Second, multi-tenant concerns: batch requests across tenants dynamically, keep a versioned registry with canary rollouts gated on per-slice accuracy because sparse models can regress on tails, keep the compacted models resident since they are small, and enforce per-tenant concurrency limits to contain noisy neighbours. Third, define success as p99 latency and cost per thousand requests, not FLOPs.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honest ledger, since that is what the brief rewards. Supported: the cost of 99% sparsity, the criterion-versus-true-loss correlation, and the MAC reduction plus the compaction speedup. Not supported: that my importance criterion improves final accuracy over magnitude on this task, that my sparse kernel beats BLAS, and that any of this transfers to harder data. Next steps: Fashion-MNIST or a harder task, more seeds, and structured sparsity so the savings show up in wall-clock time. Then invite questions: I can derive the masked gradient on the whiteboard and extend the code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D3D9"/>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E556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D3D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1097280"/>
            <a:ext cx="8046720" cy="109728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The Self-Pruning Network</a:t>
            </a:r>
            <a:endParaRPr lang="en-US" sz="4000" dirty="0"/>
          </a:p>
        </p:txBody>
      </p:sp>
      <p:sp>
        <p:nvSpPr>
          <p:cNvPr id="3" name="subtitle"/>
          <p:cNvSpPr txBox="1"/>
          <p:nvPr/>
        </p:nvSpPr>
        <p:spPr>
          <a:xfrm>
            <a:off x="548640" y="2286000"/>
            <a:ext cx="7498080" cy="731520"/>
          </a:xfrm>
          <a:prstGeom prst="rect">
            <a:avLst/>
          </a:prstGeom>
          <a:noFill/>
          <a:ln/>
        </p:spPr>
        <p:txBody>
          <a:bodyPr wrap="square" lIns="0" tIns="0" rIns="0" bIns="0" rtlCol="0" anchor="ctr"/>
          <a:lstStyle/>
          <a:p>
            <a:pPr indent="0" marL="0">
              <a:buNone/>
            </a:pPr>
            <a:r>
              <a:rPr lang="en-US" sz="1800" dirty="0">
                <a:solidFill>
                  <a:schemeClr val="accent6"/>
                </a:solidFill>
              </a:rPr>
              <a:t>A NumPy autodiff engine that removes its own connections during training, and shows what that saved</a:t>
            </a:r>
            <a:endParaRPr lang="en-US" sz="1800" dirty="0"/>
          </a:p>
        </p:txBody>
      </p:sp>
      <p:sp>
        <p:nvSpPr>
          <p:cNvPr id="4" name="chip-0"/>
          <p:cNvSpPr/>
          <p:nvPr/>
        </p:nvSpPr>
        <p:spPr>
          <a:xfrm>
            <a:off x="548640" y="3383280"/>
            <a:ext cx="2468880" cy="960120"/>
          </a:xfrm>
          <a:prstGeom prst="roundRect">
            <a:avLst>
              <a:gd name="adj" fmla="val 9524"/>
            </a:avLst>
          </a:prstGeom>
          <a:solidFill>
            <a:schemeClr val="tx2"/>
          </a:solidFill>
          <a:ln w="12700">
            <a:solidFill>
              <a:schemeClr val="tx2"/>
            </a:solidFill>
            <a:prstDash val="solid"/>
          </a:ln>
        </p:spPr>
      </p:sp>
      <p:sp>
        <p:nvSpPr>
          <p:cNvPr id="5" name="chipnum-0"/>
          <p:cNvSpPr txBox="1"/>
          <p:nvPr/>
        </p:nvSpPr>
        <p:spPr>
          <a:xfrm>
            <a:off x="731520" y="3429000"/>
            <a:ext cx="2103120" cy="50292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99%</a:t>
            </a:r>
            <a:endParaRPr lang="en-US" sz="2800" dirty="0"/>
          </a:p>
        </p:txBody>
      </p:sp>
      <p:sp>
        <p:nvSpPr>
          <p:cNvPr id="6" name="chiplbl-0"/>
          <p:cNvSpPr txBox="1"/>
          <p:nvPr/>
        </p:nvSpPr>
        <p:spPr>
          <a:xfrm>
            <a:off x="731520" y="3931920"/>
            <a:ext cx="2103120" cy="320040"/>
          </a:xfrm>
          <a:prstGeom prst="rect">
            <a:avLst/>
          </a:prstGeom>
          <a:noFill/>
          <a:ln/>
        </p:spPr>
        <p:txBody>
          <a:bodyPr wrap="square" lIns="0" tIns="0" rIns="0" bIns="0" rtlCol="0" anchor="ctr"/>
          <a:lstStyle/>
          <a:p>
            <a:pPr indent="0" marL="0">
              <a:buNone/>
            </a:pPr>
            <a:r>
              <a:rPr lang="en-US" sz="1400" dirty="0">
                <a:solidFill>
                  <a:schemeClr val="accent6"/>
                </a:solidFill>
              </a:rPr>
              <a:t>of weights removed</a:t>
            </a:r>
            <a:endParaRPr lang="en-US" sz="1400" dirty="0"/>
          </a:p>
        </p:txBody>
      </p:sp>
      <p:sp>
        <p:nvSpPr>
          <p:cNvPr id="7" name="chip-1"/>
          <p:cNvSpPr/>
          <p:nvPr/>
        </p:nvSpPr>
        <p:spPr>
          <a:xfrm>
            <a:off x="3246120" y="3383280"/>
            <a:ext cx="2468880" cy="960120"/>
          </a:xfrm>
          <a:prstGeom prst="roundRect">
            <a:avLst>
              <a:gd name="adj" fmla="val 9524"/>
            </a:avLst>
          </a:prstGeom>
          <a:solidFill>
            <a:schemeClr val="tx2"/>
          </a:solidFill>
          <a:ln w="12700">
            <a:solidFill>
              <a:schemeClr val="tx2"/>
            </a:solidFill>
            <a:prstDash val="solid"/>
          </a:ln>
        </p:spPr>
      </p:sp>
      <p:sp>
        <p:nvSpPr>
          <p:cNvPr id="8" name="chipnum-1"/>
          <p:cNvSpPr txBox="1"/>
          <p:nvPr/>
        </p:nvSpPr>
        <p:spPr>
          <a:xfrm>
            <a:off x="3429000" y="3429000"/>
            <a:ext cx="2103120" cy="50292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~1.5 pp</a:t>
            </a:r>
            <a:endParaRPr lang="en-US" sz="2800" dirty="0"/>
          </a:p>
        </p:txBody>
      </p:sp>
      <p:sp>
        <p:nvSpPr>
          <p:cNvPr id="9" name="chiplbl-1"/>
          <p:cNvSpPr txBox="1"/>
          <p:nvPr/>
        </p:nvSpPr>
        <p:spPr>
          <a:xfrm>
            <a:off x="3429000" y="3931920"/>
            <a:ext cx="2103120" cy="320040"/>
          </a:xfrm>
          <a:prstGeom prst="rect">
            <a:avLst/>
          </a:prstGeom>
          <a:noFill/>
          <a:ln/>
        </p:spPr>
        <p:txBody>
          <a:bodyPr wrap="square" lIns="0" tIns="0" rIns="0" bIns="0" rtlCol="0" anchor="ctr"/>
          <a:lstStyle/>
          <a:p>
            <a:pPr indent="0" marL="0">
              <a:buNone/>
            </a:pPr>
            <a:r>
              <a:rPr lang="en-US" sz="1400" dirty="0">
                <a:solidFill>
                  <a:schemeClr val="accent6"/>
                </a:solidFill>
              </a:rPr>
              <a:t>accuracy cost</a:t>
            </a:r>
            <a:endParaRPr lang="en-US" sz="1400" dirty="0"/>
          </a:p>
        </p:txBody>
      </p:sp>
      <p:sp>
        <p:nvSpPr>
          <p:cNvPr id="10" name="chip-2"/>
          <p:cNvSpPr/>
          <p:nvPr/>
        </p:nvSpPr>
        <p:spPr>
          <a:xfrm>
            <a:off x="5943600" y="3383280"/>
            <a:ext cx="2468880" cy="960120"/>
          </a:xfrm>
          <a:prstGeom prst="roundRect">
            <a:avLst>
              <a:gd name="adj" fmla="val 9524"/>
            </a:avLst>
          </a:prstGeom>
          <a:solidFill>
            <a:schemeClr val="tx2"/>
          </a:solidFill>
          <a:ln w="12700">
            <a:solidFill>
              <a:schemeClr val="tx2"/>
            </a:solidFill>
            <a:prstDash val="solid"/>
          </a:ln>
        </p:spPr>
      </p:sp>
      <p:sp>
        <p:nvSpPr>
          <p:cNvPr id="11" name="chipnum-2"/>
          <p:cNvSpPr txBox="1"/>
          <p:nvPr/>
        </p:nvSpPr>
        <p:spPr>
          <a:xfrm>
            <a:off x="6126480" y="3429000"/>
            <a:ext cx="2103120" cy="50292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100x</a:t>
            </a:r>
            <a:endParaRPr lang="en-US" sz="2800" dirty="0"/>
          </a:p>
        </p:txBody>
      </p:sp>
      <p:sp>
        <p:nvSpPr>
          <p:cNvPr id="12" name="chiplbl-2"/>
          <p:cNvSpPr txBox="1"/>
          <p:nvPr/>
        </p:nvSpPr>
        <p:spPr>
          <a:xfrm>
            <a:off x="6126480" y="3931920"/>
            <a:ext cx="2103120" cy="320040"/>
          </a:xfrm>
          <a:prstGeom prst="rect">
            <a:avLst/>
          </a:prstGeom>
          <a:noFill/>
          <a:ln/>
        </p:spPr>
        <p:txBody>
          <a:bodyPr wrap="square" lIns="0" tIns="0" rIns="0" bIns="0" rtlCol="0" anchor="ctr"/>
          <a:lstStyle/>
          <a:p>
            <a:pPr indent="0" marL="0">
              <a:buNone/>
            </a:pPr>
            <a:r>
              <a:rPr lang="en-US" sz="1400" dirty="0">
                <a:solidFill>
                  <a:schemeClr val="accent6"/>
                </a:solidFill>
              </a:rPr>
              <a:t>fewer MACs</a:t>
            </a:r>
            <a:endParaRPr lang="en-US" sz="1400" dirty="0"/>
          </a:p>
        </p:txBody>
      </p:sp>
      <p:sp>
        <p:nvSpPr>
          <p:cNvPr id="13" name="kicker"/>
          <p:cNvSpPr txBox="1"/>
          <p:nvPr/>
        </p:nvSpPr>
        <p:spPr>
          <a:xfrm>
            <a:off x="548640" y="548640"/>
            <a:ext cx="5486400" cy="320040"/>
          </a:xfrm>
          <a:prstGeom prst="rect">
            <a:avLst/>
          </a:prstGeom>
          <a:noFill/>
          <a:ln/>
        </p:spPr>
        <p:txBody>
          <a:bodyPr wrap="square" lIns="0" tIns="0" rIns="0" bIns="0" rtlCol="0" anchor="ctr"/>
          <a:lstStyle/>
          <a:p>
            <a:pPr indent="0" marL="0">
              <a:buNone/>
            </a:pPr>
            <a:r>
              <a:rPr lang="en-US" sz="1400" dirty="0">
                <a:solidFill>
                  <a:schemeClr val="accent6"/>
                </a:solidFill>
              </a:rPr>
              <a:t>AQUA AI Engineering Lead case study</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D3D9"/>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What was asked, what I built</a:t>
            </a:r>
            <a:endParaRPr lang="en-US" sz="3000" dirty="0"/>
          </a:p>
        </p:txBody>
      </p:sp>
      <p:sp>
        <p:nvSpPr>
          <p:cNvPr id="3" name="card-0"/>
          <p:cNvSpPr/>
          <p:nvPr/>
        </p:nvSpPr>
        <p:spPr>
          <a:xfrm>
            <a:off x="457200" y="1097280"/>
            <a:ext cx="4023360" cy="1691640"/>
          </a:xfrm>
          <a:prstGeom prst="roundRect">
            <a:avLst>
              <a:gd name="adj" fmla="val 540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bg-part1"/>
          <p:cNvSpPr/>
          <p:nvPr/>
        </p:nvSpPr>
        <p:spPr>
          <a:xfrm>
            <a:off x="685800" y="1325880"/>
            <a:ext cx="594360" cy="594360"/>
          </a:xfrm>
          <a:prstGeom prst="ellipse">
            <a:avLst/>
          </a:prstGeom>
          <a:solidFill>
            <a:srgbClr val="0E7C86"/>
          </a:solidFill>
          <a:ln w="12700">
            <a:solidFill>
              <a:srgbClr val="0E7C86"/>
            </a:solidFill>
            <a:prstDash val="solid"/>
          </a:ln>
        </p:spPr>
      </p:sp>
      <p:pic>
        <p:nvPicPr>
          <p:cNvPr id="5" name="icon-part1" descr="part1">    </p:cNvPr>
          <p:cNvPicPr>
            <a:picLocks noChangeAspect="1"/>
          </p:cNvPicPr>
          <p:nvPr/>
        </p:nvPicPr>
        <p:blipFill>
          <a:blip r:embed="rId1"/>
          <a:stretch>
            <a:fillRect/>
          </a:stretch>
        </p:blipFill>
        <p:spPr>
          <a:xfrm>
            <a:off x="834390" y="1474470"/>
            <a:ext cx="297180" cy="297180"/>
          </a:xfrm>
          <a:prstGeom prst="rect">
            <a:avLst/>
          </a:prstGeom>
        </p:spPr>
      </p:pic>
      <p:sp>
        <p:nvSpPr>
          <p:cNvPr id="6" name="cardtitle-0"/>
          <p:cNvSpPr txBox="1"/>
          <p:nvPr/>
        </p:nvSpPr>
        <p:spPr>
          <a:xfrm>
            <a:off x="1463040" y="1298448"/>
            <a:ext cx="2834640" cy="6400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Part 1  |  Autodiff engine</a:t>
            </a:r>
            <a:endParaRPr lang="en-US" sz="1800" dirty="0"/>
          </a:p>
        </p:txBody>
      </p:sp>
      <p:sp>
        <p:nvSpPr>
          <p:cNvPr id="7" name="cardbody-0"/>
          <p:cNvSpPr txBox="1"/>
          <p:nvPr/>
        </p:nvSpPr>
        <p:spPr>
          <a:xfrm>
            <a:off x="685800" y="1965960"/>
            <a:ext cx="3611880" cy="731520"/>
          </a:xfrm>
          <a:prstGeom prst="rect">
            <a:avLst/>
          </a:prstGeom>
          <a:noFill/>
          <a:ln/>
        </p:spPr>
        <p:txBody>
          <a:bodyPr wrap="square" lIns="0" tIns="0" rIns="0" bIns="0" rtlCol="0" anchor="t"/>
          <a:lstStyle/>
          <a:p>
            <a:pPr indent="0" marL="0">
              <a:buNone/>
            </a:pPr>
            <a:r>
              <a:rPr lang="en-US" sz="1400" dirty="0">
                <a:solidFill>
                  <a:schemeClr val="tx2"/>
                </a:solidFill>
              </a:rPr>
              <a:t>Reverse-mode autograd with broadcasting, finite-difference gradient checks, and mask-safe gradients.</a:t>
            </a:r>
            <a:endParaRPr lang="en-US" sz="1400" dirty="0"/>
          </a:p>
        </p:txBody>
      </p:sp>
      <p:sp>
        <p:nvSpPr>
          <p:cNvPr id="8" name="card-1"/>
          <p:cNvSpPr/>
          <p:nvPr/>
        </p:nvSpPr>
        <p:spPr>
          <a:xfrm>
            <a:off x="4663440" y="1097280"/>
            <a:ext cx="4023360" cy="1691640"/>
          </a:xfrm>
          <a:prstGeom prst="roundRect">
            <a:avLst>
              <a:gd name="adj" fmla="val 540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bg-part2"/>
          <p:cNvSpPr/>
          <p:nvPr/>
        </p:nvSpPr>
        <p:spPr>
          <a:xfrm>
            <a:off x="4892040" y="1325880"/>
            <a:ext cx="594360" cy="594360"/>
          </a:xfrm>
          <a:prstGeom prst="ellipse">
            <a:avLst/>
          </a:prstGeom>
          <a:solidFill>
            <a:srgbClr val="0E7C86"/>
          </a:solidFill>
          <a:ln w="12700">
            <a:solidFill>
              <a:srgbClr val="0E7C86"/>
            </a:solidFill>
            <a:prstDash val="solid"/>
          </a:ln>
        </p:spPr>
      </p:sp>
      <p:pic>
        <p:nvPicPr>
          <p:cNvPr id="10" name="icon-part2" descr="part2">    </p:cNvPr>
          <p:cNvPicPr>
            <a:picLocks noChangeAspect="1"/>
          </p:cNvPicPr>
          <p:nvPr/>
        </p:nvPicPr>
        <p:blipFill>
          <a:blip r:embed="rId2"/>
          <a:stretch>
            <a:fillRect/>
          </a:stretch>
        </p:blipFill>
        <p:spPr>
          <a:xfrm>
            <a:off x="5040630" y="1474470"/>
            <a:ext cx="297180" cy="297180"/>
          </a:xfrm>
          <a:prstGeom prst="rect">
            <a:avLst/>
          </a:prstGeom>
        </p:spPr>
      </p:pic>
      <p:sp>
        <p:nvSpPr>
          <p:cNvPr id="11" name="cardtitle-1"/>
          <p:cNvSpPr txBox="1"/>
          <p:nvPr/>
        </p:nvSpPr>
        <p:spPr>
          <a:xfrm>
            <a:off x="5669280" y="1298448"/>
            <a:ext cx="2834640" cy="6400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Part 2  |  Training stack</a:t>
            </a:r>
            <a:endParaRPr lang="en-US" sz="1800" dirty="0"/>
          </a:p>
        </p:txBody>
      </p:sp>
      <p:sp>
        <p:nvSpPr>
          <p:cNvPr id="12" name="cardbody-1"/>
          <p:cNvSpPr txBox="1"/>
          <p:nvPr/>
        </p:nvSpPr>
        <p:spPr>
          <a:xfrm>
            <a:off x="4892040" y="1965960"/>
            <a:ext cx="3611880" cy="731520"/>
          </a:xfrm>
          <a:prstGeom prst="rect">
            <a:avLst/>
          </a:prstGeom>
          <a:noFill/>
          <a:ln/>
        </p:spPr>
        <p:txBody>
          <a:bodyPr wrap="square" lIns="0" tIns="0" rIns="0" bIns="0" rtlCol="0" anchor="t"/>
          <a:lstStyle/>
          <a:p>
            <a:pPr indent="0" marL="0">
              <a:buNone/>
            </a:pPr>
            <a:r>
              <a:rPr lang="en-US" sz="1400" dirty="0">
                <a:solidFill>
                  <a:schemeClr val="tx2"/>
                </a:solidFill>
              </a:rPr>
              <a:t>MLP layers, Adam and SGD written from scratch, mini-batch loop, justified initialisation.</a:t>
            </a:r>
            <a:endParaRPr lang="en-US" sz="1400" dirty="0"/>
          </a:p>
        </p:txBody>
      </p:sp>
      <p:sp>
        <p:nvSpPr>
          <p:cNvPr id="13" name="card-2"/>
          <p:cNvSpPr/>
          <p:nvPr/>
        </p:nvSpPr>
        <p:spPr>
          <a:xfrm>
            <a:off x="457200" y="2926080"/>
            <a:ext cx="4023360" cy="1691640"/>
          </a:xfrm>
          <a:prstGeom prst="roundRect">
            <a:avLst>
              <a:gd name="adj" fmla="val 540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iconbg-part3"/>
          <p:cNvSpPr/>
          <p:nvPr/>
        </p:nvSpPr>
        <p:spPr>
          <a:xfrm>
            <a:off x="685800" y="3154680"/>
            <a:ext cx="594360" cy="594360"/>
          </a:xfrm>
          <a:prstGeom prst="ellipse">
            <a:avLst/>
          </a:prstGeom>
          <a:solidFill>
            <a:srgbClr val="0E7C86"/>
          </a:solidFill>
          <a:ln w="12700">
            <a:solidFill>
              <a:srgbClr val="0E7C86"/>
            </a:solidFill>
            <a:prstDash val="solid"/>
          </a:ln>
        </p:spPr>
      </p:sp>
      <p:pic>
        <p:nvPicPr>
          <p:cNvPr id="15" name="icon-part3" descr="part3">    </p:cNvPr>
          <p:cNvPicPr>
            <a:picLocks noChangeAspect="1"/>
          </p:cNvPicPr>
          <p:nvPr/>
        </p:nvPicPr>
        <p:blipFill>
          <a:blip r:embed="rId3"/>
          <a:stretch>
            <a:fillRect/>
          </a:stretch>
        </p:blipFill>
        <p:spPr>
          <a:xfrm>
            <a:off x="834390" y="3303270"/>
            <a:ext cx="297180" cy="297180"/>
          </a:xfrm>
          <a:prstGeom prst="rect">
            <a:avLst/>
          </a:prstGeom>
        </p:spPr>
      </p:pic>
      <p:sp>
        <p:nvSpPr>
          <p:cNvPr id="16" name="cardtitle-2"/>
          <p:cNvSpPr txBox="1"/>
          <p:nvPr/>
        </p:nvSpPr>
        <p:spPr>
          <a:xfrm>
            <a:off x="1463040" y="3127248"/>
            <a:ext cx="2834640" cy="6400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Part 3  |  Self-pruning</a:t>
            </a:r>
            <a:endParaRPr lang="en-US" sz="1800" dirty="0"/>
          </a:p>
        </p:txBody>
      </p:sp>
      <p:sp>
        <p:nvSpPr>
          <p:cNvPr id="17" name="cardbody-2"/>
          <p:cNvSpPr txBox="1"/>
          <p:nvPr/>
        </p:nvSpPr>
        <p:spPr>
          <a:xfrm>
            <a:off x="685800" y="3794760"/>
            <a:ext cx="3611880" cy="731520"/>
          </a:xfrm>
          <a:prstGeom prst="rect">
            <a:avLst/>
          </a:prstGeom>
          <a:noFill/>
          <a:ln/>
        </p:spPr>
        <p:txBody>
          <a:bodyPr wrap="square" lIns="0" tIns="0" rIns="0" bIns="0" rtlCol="0" anchor="t"/>
          <a:lstStyle/>
          <a:p>
            <a:pPr indent="0" marL="0">
              <a:buNone/>
            </a:pPr>
            <a:r>
              <a:rPr lang="en-US" sz="1400" dirty="0">
                <a:solidFill>
                  <a:schemeClr val="tx2"/>
                </a:solidFill>
              </a:rPr>
              <a:t>Importance criteria, cubic sparsity schedule, honest masking, optional regrowth.</a:t>
            </a:r>
            <a:endParaRPr lang="en-US" sz="1400" dirty="0"/>
          </a:p>
        </p:txBody>
      </p:sp>
      <p:sp>
        <p:nvSpPr>
          <p:cNvPr id="18" name="card-3"/>
          <p:cNvSpPr/>
          <p:nvPr/>
        </p:nvSpPr>
        <p:spPr>
          <a:xfrm>
            <a:off x="4663440" y="2926080"/>
            <a:ext cx="4023360" cy="1691640"/>
          </a:xfrm>
          <a:prstGeom prst="roundRect">
            <a:avLst>
              <a:gd name="adj" fmla="val 540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iconbg-part4"/>
          <p:cNvSpPr/>
          <p:nvPr/>
        </p:nvSpPr>
        <p:spPr>
          <a:xfrm>
            <a:off x="4892040" y="3154680"/>
            <a:ext cx="594360" cy="594360"/>
          </a:xfrm>
          <a:prstGeom prst="ellipse">
            <a:avLst/>
          </a:prstGeom>
          <a:solidFill>
            <a:srgbClr val="0E7C86"/>
          </a:solidFill>
          <a:ln w="12700">
            <a:solidFill>
              <a:srgbClr val="0E7C86"/>
            </a:solidFill>
            <a:prstDash val="solid"/>
          </a:ln>
        </p:spPr>
      </p:sp>
      <p:pic>
        <p:nvPicPr>
          <p:cNvPr id="20" name="icon-part4" descr="part4">    </p:cNvPr>
          <p:cNvPicPr>
            <a:picLocks noChangeAspect="1"/>
          </p:cNvPicPr>
          <p:nvPr/>
        </p:nvPicPr>
        <p:blipFill>
          <a:blip r:embed="rId4"/>
          <a:stretch>
            <a:fillRect/>
          </a:stretch>
        </p:blipFill>
        <p:spPr>
          <a:xfrm>
            <a:off x="5040630" y="3303270"/>
            <a:ext cx="297180" cy="297180"/>
          </a:xfrm>
          <a:prstGeom prst="rect">
            <a:avLst/>
          </a:prstGeom>
        </p:spPr>
      </p:pic>
      <p:sp>
        <p:nvSpPr>
          <p:cNvPr id="21" name="cardtitle-3"/>
          <p:cNvSpPr txBox="1"/>
          <p:nvPr/>
        </p:nvSpPr>
        <p:spPr>
          <a:xfrm>
            <a:off x="5669280" y="3127248"/>
            <a:ext cx="2834640" cy="6400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Part 4  |  Proof</a:t>
            </a:r>
            <a:endParaRPr lang="en-US" sz="1800" dirty="0"/>
          </a:p>
        </p:txBody>
      </p:sp>
      <p:sp>
        <p:nvSpPr>
          <p:cNvPr id="22" name="cardbody-3"/>
          <p:cNvSpPr txBox="1"/>
          <p:nvPr/>
        </p:nvSpPr>
        <p:spPr>
          <a:xfrm>
            <a:off x="4892040" y="3794760"/>
            <a:ext cx="3611880" cy="731520"/>
          </a:xfrm>
          <a:prstGeom prst="rect">
            <a:avLst/>
          </a:prstGeom>
          <a:noFill/>
          <a:ln/>
        </p:spPr>
        <p:txBody>
          <a:bodyPr wrap="square" lIns="0" tIns="0" rIns="0" bIns="0" rtlCol="0" anchor="t"/>
          <a:lstStyle/>
          <a:p>
            <a:pPr indent="0" marL="0">
              <a:buNone/>
            </a:pPr>
            <a:r>
              <a:rPr lang="en-US" sz="1400" dirty="0">
                <a:solidFill>
                  <a:schemeClr val="tx2"/>
                </a:solidFill>
              </a:rPr>
              <a:t>Pareto sweep, magnitude baseline, seed variance, measured cost, falsifiable claim.</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E556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Part 1: an autodiff engine</a:t>
            </a:r>
            <a:endParaRPr lang="en-US" sz="3000" dirty="0"/>
          </a:p>
        </p:txBody>
      </p:sp>
      <p:sp>
        <p:nvSpPr>
          <p:cNvPr id="3" name="features"/>
          <p:cNvSpPr txBox="1"/>
          <p:nvPr/>
        </p:nvSpPr>
        <p:spPr>
          <a:xfrm>
            <a:off x="457200" y="1188720"/>
            <a:ext cx="4937760" cy="32004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Tensor wraps a NumPy array, tracks parents, stores gradients</a:t>
            </a:r>
            <a:endParaRPr lang="en-US" sz="1800" dirty="0"/>
          </a:p>
          <a:p>
            <a:pPr marL="342900" indent="-342900">
              <a:spcAft>
                <a:spcPts val="1200"/>
              </a:spcAft>
              <a:buSzPct val="100000"/>
              <a:buChar char="•"/>
            </a:pPr>
            <a:r>
              <a:rPr lang="en-US" sz="1800" dirty="0">
                <a:solidFill>
                  <a:schemeClr val="tx1"/>
                </a:solidFill>
              </a:rPr>
              <a:t>add, sub, mul, div, matmul, sum, mean, ReLU, tanh, sigmoid, GELU</a:t>
            </a:r>
            <a:endParaRPr lang="en-US" sz="1800" dirty="0"/>
          </a:p>
          <a:p>
            <a:pPr marL="342900" indent="-342900">
              <a:spcAft>
                <a:spcPts val="1200"/>
              </a:spcAft>
              <a:buSzPct val="100000"/>
              <a:buChar char="•"/>
            </a:pPr>
            <a:r>
              <a:rPr lang="en-US" sz="1800" dirty="0">
                <a:solidFill>
                  <a:schemeClr val="tx1"/>
                </a:solidFill>
              </a:rPr>
              <a:t>Fused, numerically stable softmax + cross-entropy</a:t>
            </a:r>
            <a:endParaRPr lang="en-US" sz="1800" dirty="0"/>
          </a:p>
          <a:p>
            <a:pPr marL="342900" indent="-342900">
              <a:spcAft>
                <a:spcPts val="1200"/>
              </a:spcAft>
              <a:buSzPct val="100000"/>
              <a:buChar char="•"/>
            </a:pPr>
            <a:r>
              <a:rPr lang="en-US" sz="1800" dirty="0">
                <a:solidFill>
                  <a:schemeClr val="tx1"/>
                </a:solidFill>
              </a:rPr>
              <a:t>Iterative topological backward pass with gradient accumulation</a:t>
            </a:r>
            <a:endParaRPr lang="en-US" sz="1800" dirty="0"/>
          </a:p>
          <a:p>
            <a:pPr marL="342900" indent="-342900">
              <a:spcAft>
                <a:spcPts val="1200"/>
              </a:spcAft>
              <a:buSzPct val="100000"/>
              <a:buChar char="•"/>
            </a:pPr>
            <a:r>
              <a:rPr lang="en-US" sz="1800" dirty="0">
                <a:solidFill>
                  <a:schemeClr val="tx1"/>
                </a:solidFill>
              </a:rPr>
              <a:t>Broadcast-safe: (N, D) + (D,) sums the gradient over N</a:t>
            </a:r>
            <a:endParaRPr lang="en-US" sz="1800" dirty="0"/>
          </a:p>
        </p:txBody>
      </p:sp>
      <p:sp>
        <p:nvSpPr>
          <p:cNvPr id="4" name="stat-0"/>
          <p:cNvSpPr/>
          <p:nvPr/>
        </p:nvSpPr>
        <p:spPr>
          <a:xfrm>
            <a:off x="5760720" y="1188720"/>
            <a:ext cx="2926080" cy="914400"/>
          </a:xfrm>
          <a:prstGeom prst="roundRect">
            <a:avLst>
              <a:gd name="adj" fmla="val 10000"/>
            </a:avLst>
          </a:prstGeom>
          <a:solidFill>
            <a:schemeClr val="bg2"/>
          </a:solidFill>
          <a:ln w="12700">
            <a:solidFill>
              <a:schemeClr val="bg2"/>
            </a:solidFill>
            <a:prstDash val="solid"/>
          </a:ln>
        </p:spPr>
      </p:sp>
      <p:sp>
        <p:nvSpPr>
          <p:cNvPr id="5" name="statnum-0"/>
          <p:cNvSpPr txBox="1"/>
          <p:nvPr/>
        </p:nvSpPr>
        <p:spPr>
          <a:xfrm>
            <a:off x="5897880" y="1234440"/>
            <a:ext cx="91440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26</a:t>
            </a:r>
            <a:endParaRPr lang="en-US" sz="3600" dirty="0"/>
          </a:p>
        </p:txBody>
      </p:sp>
      <p:sp>
        <p:nvSpPr>
          <p:cNvPr id="6" name="statlbl-0"/>
          <p:cNvSpPr txBox="1"/>
          <p:nvPr/>
        </p:nvSpPr>
        <p:spPr>
          <a:xfrm>
            <a:off x="6812280" y="1234440"/>
            <a:ext cx="1783080" cy="822960"/>
          </a:xfrm>
          <a:prstGeom prst="rect">
            <a:avLst/>
          </a:prstGeom>
          <a:noFill/>
          <a:ln/>
        </p:spPr>
        <p:txBody>
          <a:bodyPr wrap="square" lIns="0" tIns="0" rIns="0" bIns="0" rtlCol="0" anchor="ctr"/>
          <a:lstStyle/>
          <a:p>
            <a:pPr indent="0" marL="0">
              <a:buNone/>
            </a:pPr>
            <a:r>
              <a:rPr lang="en-US" sz="1400" dirty="0">
                <a:solidFill>
                  <a:schemeClr val="tx2"/>
                </a:solidFill>
              </a:rPr>
              <a:t>finite-difference gradient checks</a:t>
            </a:r>
            <a:endParaRPr lang="en-US" sz="1400" dirty="0"/>
          </a:p>
        </p:txBody>
      </p:sp>
      <p:sp>
        <p:nvSpPr>
          <p:cNvPr id="7" name="stat-1"/>
          <p:cNvSpPr/>
          <p:nvPr/>
        </p:nvSpPr>
        <p:spPr>
          <a:xfrm>
            <a:off x="5760720" y="2240280"/>
            <a:ext cx="2926080" cy="914400"/>
          </a:xfrm>
          <a:prstGeom prst="roundRect">
            <a:avLst>
              <a:gd name="adj" fmla="val 10000"/>
            </a:avLst>
          </a:prstGeom>
          <a:solidFill>
            <a:schemeClr val="bg2"/>
          </a:solidFill>
          <a:ln w="12700">
            <a:solidFill>
              <a:schemeClr val="bg2"/>
            </a:solidFill>
            <a:prstDash val="solid"/>
          </a:ln>
        </p:spPr>
      </p:sp>
      <p:sp>
        <p:nvSpPr>
          <p:cNvPr id="8" name="statnum-1"/>
          <p:cNvSpPr txBox="1"/>
          <p:nvPr/>
        </p:nvSpPr>
        <p:spPr>
          <a:xfrm>
            <a:off x="5897880" y="2286000"/>
            <a:ext cx="91440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44</a:t>
            </a:r>
            <a:endParaRPr lang="en-US" sz="3600" dirty="0"/>
          </a:p>
        </p:txBody>
      </p:sp>
      <p:sp>
        <p:nvSpPr>
          <p:cNvPr id="9" name="statlbl-1"/>
          <p:cNvSpPr txBox="1"/>
          <p:nvPr/>
        </p:nvSpPr>
        <p:spPr>
          <a:xfrm>
            <a:off x="6812280" y="2286000"/>
            <a:ext cx="1783080" cy="822960"/>
          </a:xfrm>
          <a:prstGeom prst="rect">
            <a:avLst/>
          </a:prstGeom>
          <a:noFill/>
          <a:ln/>
        </p:spPr>
        <p:txBody>
          <a:bodyPr wrap="square" lIns="0" tIns="0" rIns="0" bIns="0" rtlCol="0" anchor="ctr"/>
          <a:lstStyle/>
          <a:p>
            <a:pPr indent="0" marL="0">
              <a:buNone/>
            </a:pPr>
            <a:r>
              <a:rPr lang="en-US" sz="1400" dirty="0">
                <a:solidFill>
                  <a:schemeClr val="tx2"/>
                </a:solidFill>
              </a:rPr>
              <a:t>tests pass in total</a:t>
            </a:r>
            <a:endParaRPr lang="en-US" sz="1400" dirty="0"/>
          </a:p>
        </p:txBody>
      </p:sp>
      <p:sp>
        <p:nvSpPr>
          <p:cNvPr id="10" name="stat-2"/>
          <p:cNvSpPr/>
          <p:nvPr/>
        </p:nvSpPr>
        <p:spPr>
          <a:xfrm>
            <a:off x="5760720" y="3291840"/>
            <a:ext cx="2926080" cy="914400"/>
          </a:xfrm>
          <a:prstGeom prst="roundRect">
            <a:avLst>
              <a:gd name="adj" fmla="val 10000"/>
            </a:avLst>
          </a:prstGeom>
          <a:solidFill>
            <a:schemeClr val="bg2"/>
          </a:solidFill>
          <a:ln w="12700">
            <a:solidFill>
              <a:schemeClr val="bg2"/>
            </a:solidFill>
            <a:prstDash val="solid"/>
          </a:ln>
        </p:spPr>
      </p:sp>
      <p:sp>
        <p:nvSpPr>
          <p:cNvPr id="11" name="statnum-2"/>
          <p:cNvSpPr txBox="1"/>
          <p:nvPr/>
        </p:nvSpPr>
        <p:spPr>
          <a:xfrm>
            <a:off x="5897880" y="3337560"/>
            <a:ext cx="91440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a:t>
            </a:r>
            <a:endParaRPr lang="en-US" sz="3600" dirty="0"/>
          </a:p>
        </p:txBody>
      </p:sp>
      <p:sp>
        <p:nvSpPr>
          <p:cNvPr id="12" name="statlbl-2"/>
          <p:cNvSpPr txBox="1"/>
          <p:nvPr/>
        </p:nvSpPr>
        <p:spPr>
          <a:xfrm>
            <a:off x="6812280" y="3337560"/>
            <a:ext cx="1783080" cy="822960"/>
          </a:xfrm>
          <a:prstGeom prst="rect">
            <a:avLst/>
          </a:prstGeom>
          <a:noFill/>
          <a:ln/>
        </p:spPr>
        <p:txBody>
          <a:bodyPr wrap="square" lIns="0" tIns="0" rIns="0" bIns="0" rtlCol="0" anchor="ctr"/>
          <a:lstStyle/>
          <a:p>
            <a:pPr indent="0" marL="0">
              <a:buNone/>
            </a:pPr>
            <a:r>
              <a:rPr lang="en-US" sz="1400" dirty="0">
                <a:solidFill>
                  <a:schemeClr val="tx2"/>
                </a:solidFill>
              </a:rPr>
              <a:t>NaNs in any of 248 runs</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E556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masked-weight bug</a:t>
            </a:r>
            <a:endParaRPr lang="en-US" sz="3000" dirty="0"/>
          </a:p>
        </p:txBody>
      </p:sp>
      <p:sp>
        <p:nvSpPr>
          <p:cNvPr id="3" name="col-0"/>
          <p:cNvSpPr/>
          <p:nvPr/>
        </p:nvSpPr>
        <p:spPr>
          <a:xfrm>
            <a:off x="457200" y="1097280"/>
            <a:ext cx="3931920" cy="2606040"/>
          </a:xfrm>
          <a:prstGeom prst="roundRect">
            <a:avLst>
              <a:gd name="adj" fmla="val 350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bg-col0"/>
          <p:cNvSpPr/>
          <p:nvPr/>
        </p:nvSpPr>
        <p:spPr>
          <a:xfrm>
            <a:off x="640080" y="1234440"/>
            <a:ext cx="457200" cy="457200"/>
          </a:xfrm>
          <a:prstGeom prst="ellipse">
            <a:avLst/>
          </a:prstGeom>
          <a:solidFill>
            <a:srgbClr val="D64F4F"/>
          </a:solidFill>
          <a:ln w="12700">
            <a:solidFill>
              <a:srgbClr val="D64F4F"/>
            </a:solidFill>
            <a:prstDash val="solid"/>
          </a:ln>
        </p:spPr>
      </p:sp>
      <p:pic>
        <p:nvPicPr>
          <p:cNvPr id="5" name="icon-col0" descr="col0">    </p:cNvPr>
          <p:cNvPicPr>
            <a:picLocks noChangeAspect="1"/>
          </p:cNvPicPr>
          <p:nvPr/>
        </p:nvPicPr>
        <p:blipFill>
          <a:blip r:embed="rId1"/>
          <a:stretch>
            <a:fillRect/>
          </a:stretch>
        </p:blipFill>
        <p:spPr>
          <a:xfrm>
            <a:off x="754380" y="1348740"/>
            <a:ext cx="228600" cy="228600"/>
          </a:xfrm>
          <a:prstGeom prst="rect">
            <a:avLst/>
          </a:prstGeom>
        </p:spPr>
      </p:pic>
      <p:sp>
        <p:nvSpPr>
          <p:cNvPr id="6" name="colhead-0"/>
          <p:cNvSpPr txBox="1"/>
          <p:nvPr/>
        </p:nvSpPr>
        <p:spPr>
          <a:xfrm>
            <a:off x="1234440" y="1234440"/>
            <a:ext cx="30175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Typical implementation</a:t>
            </a:r>
            <a:endParaRPr lang="en-US" sz="1800" dirty="0"/>
          </a:p>
        </p:txBody>
      </p:sp>
      <p:sp>
        <p:nvSpPr>
          <p:cNvPr id="7" name="colbody-0"/>
          <p:cNvSpPr txBox="1"/>
          <p:nvPr/>
        </p:nvSpPr>
        <p:spPr>
          <a:xfrm>
            <a:off x="685800" y="1828800"/>
            <a:ext cx="35204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Zero the gradient, keep the optimizer state</a:t>
            </a:r>
            <a:endParaRPr lang="en-US" sz="1400" dirty="0"/>
          </a:p>
          <a:p>
            <a:pPr marL="342900" indent="-342900">
              <a:spcAft>
                <a:spcPts val="600"/>
              </a:spcAft>
              <a:buSzPct val="100000"/>
              <a:buChar char="•"/>
            </a:pPr>
            <a:r>
              <a:rPr lang="en-US" sz="1400" dirty="0">
                <a:solidFill>
                  <a:schemeClr val="tx1"/>
                </a:solidFill>
              </a:rPr>
              <a:t>Stale momentum keeps moving the pruned weight</a:t>
            </a:r>
            <a:endParaRPr lang="en-US" sz="1400" dirty="0"/>
          </a:p>
          <a:p>
            <a:pPr marL="342900" indent="-342900">
              <a:spcAft>
                <a:spcPts val="600"/>
              </a:spcAft>
              <a:buSzPct val="100000"/>
              <a:buChar char="•"/>
            </a:pPr>
            <a:r>
              <a:rPr lang="en-US" sz="1400" dirty="0">
                <a:solidFill>
                  <a:schemeClr val="tx1"/>
                </a:solidFill>
              </a:rPr>
              <a:t>A revived weight inherits old moments</a:t>
            </a:r>
            <a:endParaRPr lang="en-US" sz="1400" dirty="0"/>
          </a:p>
          <a:p>
            <a:pPr marL="342900" indent="-342900">
              <a:spcAft>
                <a:spcPts val="600"/>
              </a:spcAft>
              <a:buSzPct val="100000"/>
              <a:buChar char="•"/>
            </a:pPr>
            <a:r>
              <a:rPr lang="en-US" sz="1400" dirty="0">
                <a:solidFill>
                  <a:schemeClr val="tx1"/>
                </a:solidFill>
              </a:rPr>
              <a:t>One global Adam step count under-corrects it</a:t>
            </a:r>
            <a:endParaRPr lang="en-US" sz="1400" dirty="0"/>
          </a:p>
        </p:txBody>
      </p:sp>
      <p:sp>
        <p:nvSpPr>
          <p:cNvPr id="8" name="col-1"/>
          <p:cNvSpPr/>
          <p:nvPr/>
        </p:nvSpPr>
        <p:spPr>
          <a:xfrm>
            <a:off x="4754880" y="1097280"/>
            <a:ext cx="3931920" cy="2606040"/>
          </a:xfrm>
          <a:prstGeom prst="roundRect">
            <a:avLst>
              <a:gd name="adj" fmla="val 350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bg-col1"/>
          <p:cNvSpPr/>
          <p:nvPr/>
        </p:nvSpPr>
        <p:spPr>
          <a:xfrm>
            <a:off x="4937760" y="1234440"/>
            <a:ext cx="457200" cy="457200"/>
          </a:xfrm>
          <a:prstGeom prst="ellipse">
            <a:avLst/>
          </a:prstGeom>
          <a:solidFill>
            <a:srgbClr val="2E9E6B"/>
          </a:solidFill>
          <a:ln w="12700">
            <a:solidFill>
              <a:srgbClr val="2E9E6B"/>
            </a:solidFill>
            <a:prstDash val="solid"/>
          </a:ln>
        </p:spPr>
      </p:sp>
      <p:pic>
        <p:nvPicPr>
          <p:cNvPr id="10" name="icon-col1" descr="col1">    </p:cNvPr>
          <p:cNvPicPr>
            <a:picLocks noChangeAspect="1"/>
          </p:cNvPicPr>
          <p:nvPr/>
        </p:nvPicPr>
        <p:blipFill>
          <a:blip r:embed="rId2"/>
          <a:stretch>
            <a:fillRect/>
          </a:stretch>
        </p:blipFill>
        <p:spPr>
          <a:xfrm>
            <a:off x="5052060" y="1348740"/>
            <a:ext cx="228600" cy="228600"/>
          </a:xfrm>
          <a:prstGeom prst="rect">
            <a:avLst/>
          </a:prstGeom>
        </p:spPr>
      </p:pic>
      <p:sp>
        <p:nvSpPr>
          <p:cNvPr id="11" name="colhead-1"/>
          <p:cNvSpPr txBox="1"/>
          <p:nvPr/>
        </p:nvSpPr>
        <p:spPr>
          <a:xfrm>
            <a:off x="5532120" y="1234440"/>
            <a:ext cx="30175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This implementation</a:t>
            </a:r>
            <a:endParaRPr lang="en-US" sz="1800" dirty="0"/>
          </a:p>
        </p:txBody>
      </p:sp>
      <p:sp>
        <p:nvSpPr>
          <p:cNvPr id="12" name="colbody-1"/>
          <p:cNvSpPr txBox="1"/>
          <p:nvPr/>
        </p:nvSpPr>
        <p:spPr>
          <a:xfrm>
            <a:off x="4983480" y="1828800"/>
            <a:ext cx="35204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Mask changes reset weight, m, v and step count</a:t>
            </a:r>
            <a:endParaRPr lang="en-US" sz="1400" dirty="0"/>
          </a:p>
          <a:p>
            <a:pPr marL="342900" indent="-342900">
              <a:spcAft>
                <a:spcPts val="600"/>
              </a:spcAft>
              <a:buSzPct val="100000"/>
              <a:buChar char="•"/>
            </a:pPr>
            <a:r>
              <a:rPr lang="en-US" sz="1400" dirty="0">
                <a:solidFill>
                  <a:schemeClr val="tx1"/>
                </a:solidFill>
              </a:rPr>
              <a:t>Per-weight step counter for bias correction</a:t>
            </a:r>
            <a:endParaRPr lang="en-US" sz="1400" dirty="0"/>
          </a:p>
          <a:p>
            <a:pPr marL="342900" indent="-342900">
              <a:spcAft>
                <a:spcPts val="600"/>
              </a:spcAft>
              <a:buSzPct val="100000"/>
              <a:buChar char="•"/>
            </a:pPr>
            <a:r>
              <a:rPr lang="en-US" sz="1400" dirty="0">
                <a:solidFill>
                  <a:schemeClr val="tx1"/>
                </a:solidFill>
              </a:rPr>
              <a:t>A revived weight takes exactly one lr-sized first step</a:t>
            </a:r>
            <a:endParaRPr lang="en-US" sz="1400" dirty="0"/>
          </a:p>
          <a:p>
            <a:pPr marL="342900" indent="-342900">
              <a:spcAft>
                <a:spcPts val="600"/>
              </a:spcAft>
              <a:buSzPct val="100000"/>
              <a:buChar char="•"/>
            </a:pPr>
            <a:r>
              <a:rPr lang="en-US" sz="1400" dirty="0">
                <a:solidFill>
                  <a:schemeClr val="tx1"/>
                </a:solidFill>
              </a:rPr>
              <a:t>Each of these is covered by a test</a:t>
            </a:r>
            <a:endParaRPr lang="en-US" sz="1400" dirty="0"/>
          </a:p>
        </p:txBody>
      </p:sp>
      <p:sp>
        <p:nvSpPr>
          <p:cNvPr id="13" name="gradbanner"/>
          <p:cNvSpPr/>
          <p:nvPr/>
        </p:nvSpPr>
        <p:spPr>
          <a:xfrm>
            <a:off x="457200" y="3886200"/>
            <a:ext cx="8229600" cy="777240"/>
          </a:xfrm>
          <a:prstGeom prst="roundRect">
            <a:avLst>
              <a:gd name="adj" fmla="val 11765"/>
            </a:avLst>
          </a:prstGeom>
          <a:solidFill>
            <a:schemeClr val="tx1"/>
          </a:solidFill>
          <a:ln w="12700">
            <a:solidFill>
              <a:schemeClr val="tx1"/>
            </a:solidFill>
            <a:prstDash val="solid"/>
          </a:ln>
        </p:spPr>
      </p:sp>
      <p:sp>
        <p:nvSpPr>
          <p:cNvPr id="14" name="gradtext"/>
          <p:cNvSpPr txBox="1"/>
          <p:nvPr/>
        </p:nvSpPr>
        <p:spPr>
          <a:xfrm>
            <a:off x="640080" y="3931920"/>
            <a:ext cx="7863840" cy="685800"/>
          </a:xfrm>
          <a:prstGeom prst="rect">
            <a:avLst/>
          </a:prstGeom>
          <a:noFill/>
          <a:ln/>
        </p:spPr>
        <p:txBody>
          <a:bodyPr wrap="square" lIns="0" tIns="0" rIns="0" bIns="0" rtlCol="0" anchor="ctr"/>
          <a:lstStyle/>
          <a:p>
            <a:pPr indent="0" marL="0">
              <a:buNone/>
            </a:pPr>
            <a:r>
              <a:rPr lang="en-US" sz="1400" b="1" dirty="0">
                <a:solidFill>
                  <a:srgbClr val="8FD3D9"/>
                </a:solidFill>
              </a:rPr>
              <a:t>Two exact gradients:  </a:t>
            </a:r>
            <a:pPr indent="0" marL="0">
              <a:buNone/>
            </a:pPr>
            <a:r>
              <a:rPr lang="en-US" sz="1400" dirty="0">
                <a:solidFill>
                  <a:srgbClr val="FFFFFF"/>
                </a:solidFill>
              </a:rPr>
              <a:t>dL/dW = (dL/dW_eff) x mask is zero where pruned, so the optimizer sees nothing. dL/dW_eff is kept separately as dense_grad: what reviving that slot would do.</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E556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Part 2: stable training</a:t>
            </a:r>
            <a:endParaRPr lang="en-US" sz="3000" dirty="0"/>
          </a:p>
        </p:txBody>
      </p:sp>
      <p:pic>
        <p:nvPicPr>
          <p:cNvPr id="3" name="learningcurve" descr="Loss and accuracy learning curves for the dense MLP">    </p:cNvPr>
          <p:cNvPicPr>
            <a:picLocks noChangeAspect="1"/>
          </p:cNvPicPr>
          <p:nvPr/>
        </p:nvPicPr>
        <p:blipFill>
          <a:blip r:embed="rId1"/>
          <a:stretch>
            <a:fillRect/>
          </a:stretch>
        </p:blipFill>
        <p:spPr>
          <a:xfrm>
            <a:off x="457200" y="1143000"/>
            <a:ext cx="5029200" cy="1810512"/>
          </a:xfrm>
          <a:prstGeom prst="rect">
            <a:avLst/>
          </a:prstGeom>
        </p:spPr>
      </p:pic>
      <p:sp>
        <p:nvSpPr>
          <p:cNvPr id="4" name="curvecaption"/>
          <p:cNvSpPr txBox="1"/>
          <p:nvPr/>
        </p:nvSpPr>
        <p:spPr>
          <a:xfrm>
            <a:off x="457200" y="3017520"/>
            <a:ext cx="5029200" cy="274320"/>
          </a:xfrm>
          <a:prstGeom prst="rect">
            <a:avLst/>
          </a:prstGeom>
          <a:noFill/>
          <a:ln/>
        </p:spPr>
        <p:txBody>
          <a:bodyPr wrap="square" lIns="0" tIns="0" rIns="0" bIns="0" rtlCol="0" anchor="ctr"/>
          <a:lstStyle/>
          <a:p>
            <a:pPr indent="0" marL="0">
              <a:buNone/>
            </a:pPr>
            <a:r>
              <a:rPr lang="en-US" sz="1200" dirty="0">
                <a:solidFill>
                  <a:schemeClr val="tx2"/>
                </a:solidFill>
              </a:rPr>
              <a:t>Dense 64-256-128-10 MLP, Adam, 60 epochs</a:t>
            </a:r>
            <a:endParaRPr lang="en-US" sz="1200" dirty="0"/>
          </a:p>
        </p:txBody>
      </p:sp>
      <p:sp>
        <p:nvSpPr>
          <p:cNvPr id="5" name="initcard"/>
          <p:cNvSpPr/>
          <p:nvPr/>
        </p:nvSpPr>
        <p:spPr>
          <a:xfrm>
            <a:off x="457200" y="3474720"/>
            <a:ext cx="5029200" cy="1188720"/>
          </a:xfrm>
          <a:prstGeom prst="roundRect">
            <a:avLst>
              <a:gd name="adj" fmla="val 7692"/>
            </a:avLst>
          </a:prstGeom>
          <a:solidFill>
            <a:schemeClr val="bg2"/>
          </a:solidFill>
          <a:ln w="12700">
            <a:solidFill>
              <a:schemeClr val="bg2"/>
            </a:solidFill>
            <a:prstDash val="solid"/>
          </a:ln>
        </p:spPr>
      </p:sp>
      <p:sp>
        <p:nvSpPr>
          <p:cNvPr id="6" name="inittext"/>
          <p:cNvSpPr txBox="1"/>
          <p:nvPr/>
        </p:nvSpPr>
        <p:spPr>
          <a:xfrm>
            <a:off x="640080" y="3520440"/>
            <a:ext cx="4663440" cy="1097280"/>
          </a:xfrm>
          <a:prstGeom prst="rect">
            <a:avLst/>
          </a:prstGeom>
          <a:noFill/>
          <a:ln/>
        </p:spPr>
        <p:txBody>
          <a:bodyPr wrap="square" lIns="0" tIns="0" rIns="0" bIns="0" rtlCol="0" anchor="ctr"/>
          <a:lstStyle/>
          <a:p>
            <a:pPr indent="0" marL="0">
              <a:buNone/>
            </a:pPr>
            <a:r>
              <a:rPr lang="en-US" sz="1400" b="1" dirty="0">
                <a:solidFill>
                  <a:schemeClr val="tx1"/>
                </a:solidFill>
              </a:rPr>
              <a:t>He init, N(0, 2/fan_in): </a:t>
            </a:r>
            <a:pPr indent="0" marL="0">
              <a:buNone/>
            </a:pPr>
            <a:r>
              <a:rPr lang="en-US" sz="1400" dirty="0">
                <a:solidFill>
                  <a:schemeClr val="tx1"/>
                </a:solidFill>
              </a:rPr>
              <a:t>keeps activation variance near constant through ReLU. Layer pre-activation std stays about 1.0 to 1.4, versus 8 to 89 with N(0, 1).</a:t>
            </a:r>
            <a:endParaRPr lang="en-US" sz="1400" dirty="0"/>
          </a:p>
        </p:txBody>
      </p:sp>
      <p:sp>
        <p:nvSpPr>
          <p:cNvPr id="7" name="p2stat-0"/>
          <p:cNvSpPr/>
          <p:nvPr/>
        </p:nvSpPr>
        <p:spPr>
          <a:xfrm>
            <a:off x="5852160" y="1143000"/>
            <a:ext cx="2834640" cy="1051560"/>
          </a:xfrm>
          <a:prstGeom prst="roundRect">
            <a:avLst>
              <a:gd name="adj" fmla="val 8696"/>
            </a:avLst>
          </a:prstGeom>
          <a:solidFill>
            <a:schemeClr val="bg2"/>
          </a:solidFill>
          <a:ln w="12700">
            <a:solidFill>
              <a:schemeClr val="bg2"/>
            </a:solidFill>
            <a:prstDash val="solid"/>
          </a:ln>
        </p:spPr>
      </p:sp>
      <p:sp>
        <p:nvSpPr>
          <p:cNvPr id="8" name="p2num-0"/>
          <p:cNvSpPr txBox="1"/>
          <p:nvPr/>
        </p:nvSpPr>
        <p:spPr>
          <a:xfrm>
            <a:off x="5989320" y="1216152"/>
            <a:ext cx="1325880" cy="9144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98.2%</a:t>
            </a:r>
            <a:endParaRPr lang="en-US" sz="2800" dirty="0"/>
          </a:p>
        </p:txBody>
      </p:sp>
      <p:sp>
        <p:nvSpPr>
          <p:cNvPr id="9" name="p2lbl-0"/>
          <p:cNvSpPr txBox="1"/>
          <p:nvPr/>
        </p:nvSpPr>
        <p:spPr>
          <a:xfrm>
            <a:off x="7315200" y="1216152"/>
            <a:ext cx="1280160" cy="914400"/>
          </a:xfrm>
          <a:prstGeom prst="rect">
            <a:avLst/>
          </a:prstGeom>
          <a:noFill/>
          <a:ln/>
        </p:spPr>
        <p:txBody>
          <a:bodyPr wrap="square" lIns="0" tIns="0" rIns="0" bIns="0" rtlCol="0" anchor="ctr"/>
          <a:lstStyle/>
          <a:p>
            <a:pPr indent="0" marL="0">
              <a:buNone/>
            </a:pPr>
            <a:r>
              <a:rPr lang="en-US" sz="1400" dirty="0">
                <a:solidFill>
                  <a:schemeClr val="tx2"/>
                </a:solidFill>
              </a:rPr>
              <a:t>dense test accuracy (8 seeds)</a:t>
            </a:r>
            <a:endParaRPr lang="en-US" sz="1400" dirty="0"/>
          </a:p>
        </p:txBody>
      </p:sp>
      <p:sp>
        <p:nvSpPr>
          <p:cNvPr id="10" name="p2stat-1"/>
          <p:cNvSpPr/>
          <p:nvPr/>
        </p:nvSpPr>
        <p:spPr>
          <a:xfrm>
            <a:off x="5852160" y="2331720"/>
            <a:ext cx="2834640" cy="1051560"/>
          </a:xfrm>
          <a:prstGeom prst="roundRect">
            <a:avLst>
              <a:gd name="adj" fmla="val 8696"/>
            </a:avLst>
          </a:prstGeom>
          <a:solidFill>
            <a:schemeClr val="bg2"/>
          </a:solidFill>
          <a:ln w="12700">
            <a:solidFill>
              <a:schemeClr val="bg2"/>
            </a:solidFill>
            <a:prstDash val="solid"/>
          </a:ln>
        </p:spPr>
      </p:sp>
      <p:sp>
        <p:nvSpPr>
          <p:cNvPr id="11" name="p2num-1"/>
          <p:cNvSpPr txBox="1"/>
          <p:nvPr/>
        </p:nvSpPr>
        <p:spPr>
          <a:xfrm>
            <a:off x="5989320" y="2404872"/>
            <a:ext cx="1325880" cy="9144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0.16</a:t>
            </a:r>
            <a:endParaRPr lang="en-US" sz="2800" dirty="0"/>
          </a:p>
        </p:txBody>
      </p:sp>
      <p:sp>
        <p:nvSpPr>
          <p:cNvPr id="12" name="p2lbl-1"/>
          <p:cNvSpPr txBox="1"/>
          <p:nvPr/>
        </p:nvSpPr>
        <p:spPr>
          <a:xfrm>
            <a:off x="7315200" y="2404872"/>
            <a:ext cx="1280160" cy="914400"/>
          </a:xfrm>
          <a:prstGeom prst="rect">
            <a:avLst/>
          </a:prstGeom>
          <a:noFill/>
          <a:ln/>
        </p:spPr>
        <p:txBody>
          <a:bodyPr wrap="square" lIns="0" tIns="0" rIns="0" bIns="0" rtlCol="0" anchor="ctr"/>
          <a:lstStyle/>
          <a:p>
            <a:pPr indent="0" marL="0">
              <a:buNone/>
            </a:pPr>
            <a:r>
              <a:rPr lang="en-US" sz="1400" dirty="0">
                <a:solidFill>
                  <a:schemeClr val="tx2"/>
                </a:solidFill>
              </a:rPr>
              <a:t>first-epoch loss with He init</a:t>
            </a:r>
            <a:endParaRPr lang="en-US" sz="1400" dirty="0"/>
          </a:p>
        </p:txBody>
      </p:sp>
      <p:sp>
        <p:nvSpPr>
          <p:cNvPr id="13" name="p2stat-2"/>
          <p:cNvSpPr/>
          <p:nvPr/>
        </p:nvSpPr>
        <p:spPr>
          <a:xfrm>
            <a:off x="5852160" y="3520440"/>
            <a:ext cx="2834640" cy="1051560"/>
          </a:xfrm>
          <a:prstGeom prst="roundRect">
            <a:avLst>
              <a:gd name="adj" fmla="val 8696"/>
            </a:avLst>
          </a:prstGeom>
          <a:solidFill>
            <a:schemeClr val="tx1"/>
          </a:solidFill>
          <a:ln w="12700">
            <a:solidFill>
              <a:schemeClr val="tx1"/>
            </a:solidFill>
            <a:prstDash val="solid"/>
          </a:ln>
        </p:spPr>
      </p:sp>
      <p:sp>
        <p:nvSpPr>
          <p:cNvPr id="14" name="p2num-2"/>
          <p:cNvSpPr txBox="1"/>
          <p:nvPr/>
        </p:nvSpPr>
        <p:spPr>
          <a:xfrm>
            <a:off x="5989320" y="3593592"/>
            <a:ext cx="1325880" cy="91440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11.2</a:t>
            </a:r>
            <a:endParaRPr lang="en-US" sz="2800" dirty="0"/>
          </a:p>
        </p:txBody>
      </p:sp>
      <p:sp>
        <p:nvSpPr>
          <p:cNvPr id="15" name="p2lbl-2"/>
          <p:cNvSpPr txBox="1"/>
          <p:nvPr/>
        </p:nvSpPr>
        <p:spPr>
          <a:xfrm>
            <a:off x="7315200" y="3593592"/>
            <a:ext cx="1280160" cy="914400"/>
          </a:xfrm>
          <a:prstGeom prst="rect">
            <a:avLst/>
          </a:prstGeom>
          <a:noFill/>
          <a:ln/>
        </p:spPr>
        <p:txBody>
          <a:bodyPr wrap="square" lIns="0" tIns="0" rIns="0" bIns="0" rtlCol="0" anchor="ctr"/>
          <a:lstStyle/>
          <a:p>
            <a:pPr indent="0" marL="0">
              <a:buNone/>
            </a:pPr>
            <a:r>
              <a:rPr lang="en-US" sz="1400" dirty="0">
                <a:solidFill>
                  <a:schemeClr val="bg1"/>
                </a:solidFill>
              </a:rPr>
              <a:t>first-epoch loss with N(0,1)</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E556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Importance = loss if removed</a:t>
            </a:r>
            <a:endParaRPr lang="en-US" sz="3000" dirty="0"/>
          </a:p>
        </p:txBody>
      </p:sp>
      <p:sp>
        <p:nvSpPr>
          <p:cNvPr id="3" name="formulabanner"/>
          <p:cNvSpPr/>
          <p:nvPr/>
        </p:nvSpPr>
        <p:spPr>
          <a:xfrm>
            <a:off x="457200" y="1097280"/>
            <a:ext cx="8229600" cy="731520"/>
          </a:xfrm>
          <a:prstGeom prst="roundRect">
            <a:avLst>
              <a:gd name="adj" fmla="val 12500"/>
            </a:avLst>
          </a:prstGeom>
          <a:solidFill>
            <a:schemeClr val="tx1"/>
          </a:solidFill>
          <a:ln w="12700">
            <a:solidFill>
              <a:schemeClr val="tx1"/>
            </a:solidFill>
            <a:prstDash val="solid"/>
          </a:ln>
        </p:spPr>
      </p:sp>
      <p:sp>
        <p:nvSpPr>
          <p:cNvPr id="4" name="formulatext"/>
          <p:cNvSpPr txBox="1"/>
          <p:nvPr/>
        </p:nvSpPr>
        <p:spPr>
          <a:xfrm>
            <a:off x="640080" y="1143000"/>
            <a:ext cx="7863840" cy="640080"/>
          </a:xfrm>
          <a:prstGeom prst="rect">
            <a:avLst/>
          </a:prstGeom>
          <a:noFill/>
          <a:ln/>
        </p:spPr>
        <p:txBody>
          <a:bodyPr wrap="square" lIns="0" tIns="0" rIns="0" bIns="0" rtlCol="0" anchor="ctr"/>
          <a:lstStyle/>
          <a:p>
            <a:pPr indent="0" marL="0">
              <a:buNone/>
            </a:pPr>
            <a:r>
              <a:rPr lang="en-US" sz="1400" dirty="0">
                <a:solidFill>
                  <a:srgbClr val="8FD3D9"/>
                </a:solidFill>
              </a:rPr>
              <a:t>Removing w sets it to 0:   </a:t>
            </a:r>
            <a:pPr indent="0" marL="0">
              <a:buNone/>
            </a:pPr>
            <a:r>
              <a:rPr lang="en-US" sz="2000" b="1" dirty="0">
                <a:solidFill>
                  <a:srgbClr val="FFFFFF"/>
                </a:solidFill>
                <a:latin typeface="Cambria" pitchFamily="34" charset="0"/>
                <a:ea typeface="Cambria" pitchFamily="34" charset="-122"/>
                <a:cs typeface="Cambria" pitchFamily="34" charset="-120"/>
              </a:rPr>
              <a:t>dL ~ -g w + 1/2 H w^2</a:t>
            </a:r>
            <a:pPr indent="0" marL="0">
              <a:buNone/>
            </a:pPr>
            <a:r>
              <a:rPr lang="en-US" sz="1400" dirty="0">
                <a:solidFill>
                  <a:srgbClr val="8FD3D9"/>
                </a:solidFill>
              </a:rPr>
              <a:t>   near a minimum g ~ 0: curvature dominates</a:t>
            </a:r>
            <a:endParaRPr lang="en-US" sz="1400" dirty="0"/>
          </a:p>
        </p:txBody>
      </p:sp>
      <p:sp>
        <p:nvSpPr>
          <p:cNvPr id="5" name="crit-0"/>
          <p:cNvSpPr/>
          <p:nvPr/>
        </p:nvSpPr>
        <p:spPr>
          <a:xfrm>
            <a:off x="457200" y="2011680"/>
            <a:ext cx="4297680" cy="777240"/>
          </a:xfrm>
          <a:prstGeom prst="roundRect">
            <a:avLst>
              <a:gd name="adj" fmla="val 11765"/>
            </a:avLst>
          </a:prstGeom>
          <a:solidFill>
            <a:schemeClr val="bg2"/>
          </a:solidFill>
          <a:ln w="12700">
            <a:solidFill>
              <a:schemeClr val="bg2"/>
            </a:solidFill>
            <a:prstDash val="solid"/>
          </a:ln>
        </p:spPr>
      </p:sp>
      <p:sp>
        <p:nvSpPr>
          <p:cNvPr id="6" name="critname-0"/>
          <p:cNvSpPr txBox="1"/>
          <p:nvPr/>
        </p:nvSpPr>
        <p:spPr>
          <a:xfrm>
            <a:off x="640080" y="2057400"/>
            <a:ext cx="1463040" cy="685800"/>
          </a:xfrm>
          <a:prstGeom prst="rect">
            <a:avLst/>
          </a:prstGeom>
          <a:noFill/>
          <a:ln/>
        </p:spPr>
        <p:txBody>
          <a:bodyPr wrap="square" lIns="0" tIns="0" rIns="0" bIns="0" rtlCol="0" anchor="ctr"/>
          <a:lstStyle/>
          <a:p>
            <a:pPr indent="0" marL="0">
              <a:buNone/>
            </a:pPr>
            <a:r>
              <a:rPr lang="en-US" sz="1500" b="1" dirty="0">
                <a:solidFill>
                  <a:schemeClr val="tx1"/>
                </a:solidFill>
              </a:rPr>
              <a:t>Magnitude</a:t>
            </a:r>
            <a:endParaRPr lang="en-US" sz="1500" dirty="0"/>
          </a:p>
        </p:txBody>
      </p:sp>
      <p:sp>
        <p:nvSpPr>
          <p:cNvPr id="7" name="critdesc-0"/>
          <p:cNvSpPr txBox="1"/>
          <p:nvPr/>
        </p:nvSpPr>
        <p:spPr>
          <a:xfrm>
            <a:off x="2103120" y="2057400"/>
            <a:ext cx="2560320" cy="685800"/>
          </a:xfrm>
          <a:prstGeom prst="rect">
            <a:avLst/>
          </a:prstGeom>
          <a:noFill/>
          <a:ln/>
        </p:spPr>
        <p:txBody>
          <a:bodyPr wrap="square" lIns="0" tIns="0" rIns="0" bIns="0" rtlCol="0" anchor="ctr"/>
          <a:lstStyle/>
          <a:p>
            <a:pPr indent="0" marL="0">
              <a:buNone/>
            </a:pPr>
            <a:r>
              <a:rPr lang="en-US" sz="1500" b="1" dirty="0">
                <a:solidFill>
                  <a:srgbClr val="0E7C86"/>
                </a:solidFill>
                <a:latin typeface="Cambria" pitchFamily="34" charset="0"/>
                <a:ea typeface="Cambria" pitchFamily="34" charset="-122"/>
                <a:cs typeface="Cambria" pitchFamily="34" charset="-120"/>
              </a:rPr>
              <a:t>|w|</a:t>
            </a:r>
            <a:endParaRPr lang="en-US" sz="1500" dirty="0"/>
          </a:p>
          <a:p>
            <a:pPr indent="0" marL="0">
              <a:buNone/>
            </a:pPr>
            <a:r>
              <a:rPr lang="en-US" sz="1200" dirty="0">
                <a:solidFill>
                  <a:srgbClr val="3E5563"/>
                </a:solidFill>
              </a:rPr>
              <a:t>Ignores the loss entirely</a:t>
            </a:r>
            <a:endParaRPr lang="en-US" sz="1500" dirty="0"/>
          </a:p>
        </p:txBody>
      </p:sp>
      <p:sp>
        <p:nvSpPr>
          <p:cNvPr id="8" name="crit-1"/>
          <p:cNvSpPr/>
          <p:nvPr/>
        </p:nvSpPr>
        <p:spPr>
          <a:xfrm>
            <a:off x="457200" y="2898648"/>
            <a:ext cx="4297680" cy="777240"/>
          </a:xfrm>
          <a:prstGeom prst="roundRect">
            <a:avLst>
              <a:gd name="adj" fmla="val 11765"/>
            </a:avLst>
          </a:prstGeom>
          <a:solidFill>
            <a:schemeClr val="bg2"/>
          </a:solidFill>
          <a:ln w="12700">
            <a:solidFill>
              <a:schemeClr val="bg2"/>
            </a:solidFill>
            <a:prstDash val="solid"/>
          </a:ln>
        </p:spPr>
      </p:sp>
      <p:sp>
        <p:nvSpPr>
          <p:cNvPr id="9" name="critname-1"/>
          <p:cNvSpPr txBox="1"/>
          <p:nvPr/>
        </p:nvSpPr>
        <p:spPr>
          <a:xfrm>
            <a:off x="640080" y="2944368"/>
            <a:ext cx="1463040" cy="685800"/>
          </a:xfrm>
          <a:prstGeom prst="rect">
            <a:avLst/>
          </a:prstGeom>
          <a:noFill/>
          <a:ln/>
        </p:spPr>
        <p:txBody>
          <a:bodyPr wrap="square" lIns="0" tIns="0" rIns="0" bIns="0" rtlCol="0" anchor="ctr"/>
          <a:lstStyle/>
          <a:p>
            <a:pPr indent="0" marL="0">
              <a:buNone/>
            </a:pPr>
            <a:r>
              <a:rPr lang="en-US" sz="1500" b="1" dirty="0">
                <a:solidFill>
                  <a:schemeClr val="tx1"/>
                </a:solidFill>
              </a:rPr>
              <a:t>Taylor</a:t>
            </a:r>
            <a:endParaRPr lang="en-US" sz="1500" dirty="0"/>
          </a:p>
        </p:txBody>
      </p:sp>
      <p:sp>
        <p:nvSpPr>
          <p:cNvPr id="10" name="critdesc-1"/>
          <p:cNvSpPr txBox="1"/>
          <p:nvPr/>
        </p:nvSpPr>
        <p:spPr>
          <a:xfrm>
            <a:off x="2103120" y="2944368"/>
            <a:ext cx="2560320" cy="685800"/>
          </a:xfrm>
          <a:prstGeom prst="rect">
            <a:avLst/>
          </a:prstGeom>
          <a:noFill/>
          <a:ln/>
        </p:spPr>
        <p:txBody>
          <a:bodyPr wrap="square" lIns="0" tIns="0" rIns="0" bIns="0" rtlCol="0" anchor="ctr"/>
          <a:lstStyle/>
          <a:p>
            <a:pPr indent="0" marL="0">
              <a:buNone/>
            </a:pPr>
            <a:r>
              <a:rPr lang="en-US" sz="1500" b="1" dirty="0">
                <a:solidFill>
                  <a:srgbClr val="0E7C86"/>
                </a:solidFill>
                <a:latin typeface="Cambria" pitchFamily="34" charset="0"/>
                <a:ea typeface="Cambria" pitchFamily="34" charset="-122"/>
                <a:cs typeface="Cambria" pitchFamily="34" charset="-120"/>
              </a:rPr>
              <a:t>|w x mean(g)|</a:t>
            </a:r>
            <a:endParaRPr lang="en-US" sz="1500" dirty="0"/>
          </a:p>
          <a:p>
            <a:pPr indent="0" marL="0">
              <a:buNone/>
            </a:pPr>
            <a:r>
              <a:rPr lang="en-US" sz="1200" dirty="0">
                <a:solidFill>
                  <a:srgbClr val="3E5563"/>
                </a:solidFill>
              </a:rPr>
              <a:t>First-order term only</a:t>
            </a:r>
            <a:endParaRPr lang="en-US" sz="1500" dirty="0"/>
          </a:p>
        </p:txBody>
      </p:sp>
      <p:sp>
        <p:nvSpPr>
          <p:cNvPr id="11" name="crit-2"/>
          <p:cNvSpPr/>
          <p:nvPr/>
        </p:nvSpPr>
        <p:spPr>
          <a:xfrm>
            <a:off x="457200" y="3785616"/>
            <a:ext cx="4297680" cy="777240"/>
          </a:xfrm>
          <a:prstGeom prst="roundRect">
            <a:avLst>
              <a:gd name="adj" fmla="val 11765"/>
            </a:avLst>
          </a:prstGeom>
          <a:solidFill>
            <a:schemeClr val="bg2"/>
          </a:solidFill>
          <a:ln w="12700">
            <a:solidFill>
              <a:schemeClr val="bg2"/>
            </a:solidFill>
            <a:prstDash val="solid"/>
          </a:ln>
        </p:spPr>
      </p:sp>
      <p:sp>
        <p:nvSpPr>
          <p:cNvPr id="12" name="critname-2"/>
          <p:cNvSpPr txBox="1"/>
          <p:nvPr/>
        </p:nvSpPr>
        <p:spPr>
          <a:xfrm>
            <a:off x="640080" y="3831336"/>
            <a:ext cx="1463040" cy="685800"/>
          </a:xfrm>
          <a:prstGeom prst="rect">
            <a:avLst/>
          </a:prstGeom>
          <a:noFill/>
          <a:ln/>
        </p:spPr>
        <p:txBody>
          <a:bodyPr wrap="square" lIns="0" tIns="0" rIns="0" bIns="0" rtlCol="0" anchor="ctr"/>
          <a:lstStyle/>
          <a:p>
            <a:pPr indent="0" marL="0">
              <a:buNone/>
            </a:pPr>
            <a:r>
              <a:rPr lang="en-US" sz="1500" b="1" dirty="0">
                <a:solidFill>
                  <a:schemeClr val="tx1"/>
                </a:solidFill>
              </a:rPr>
              <a:t>Fisher saliency</a:t>
            </a:r>
            <a:endParaRPr lang="en-US" sz="1500" dirty="0"/>
          </a:p>
        </p:txBody>
      </p:sp>
      <p:sp>
        <p:nvSpPr>
          <p:cNvPr id="13" name="critdesc-2"/>
          <p:cNvSpPr txBox="1"/>
          <p:nvPr/>
        </p:nvSpPr>
        <p:spPr>
          <a:xfrm>
            <a:off x="2103120" y="3831336"/>
            <a:ext cx="2560320" cy="685800"/>
          </a:xfrm>
          <a:prstGeom prst="rect">
            <a:avLst/>
          </a:prstGeom>
          <a:noFill/>
          <a:ln/>
        </p:spPr>
        <p:txBody>
          <a:bodyPr wrap="square" lIns="0" tIns="0" rIns="0" bIns="0" rtlCol="0" anchor="ctr"/>
          <a:lstStyle/>
          <a:p>
            <a:pPr indent="0" marL="0">
              <a:buNone/>
            </a:pPr>
            <a:r>
              <a:rPr lang="en-US" sz="1500" b="1" dirty="0">
                <a:solidFill>
                  <a:srgbClr val="0E7C86"/>
                </a:solidFill>
                <a:latin typeface="Cambria" pitchFamily="34" charset="0"/>
                <a:ea typeface="Cambria" pitchFamily="34" charset="-122"/>
                <a:cs typeface="Cambria" pitchFamily="34" charset="-120"/>
              </a:rPr>
              <a:t>1/2 F w^2</a:t>
            </a:r>
            <a:endParaRPr lang="en-US" sz="1500" dirty="0"/>
          </a:p>
          <a:p>
            <a:pPr indent="0" marL="0">
              <a:buNone/>
            </a:pPr>
            <a:r>
              <a:rPr lang="en-US" sz="1200" dirty="0">
                <a:solidFill>
                  <a:srgbClr val="3E5563"/>
                </a:solidFill>
              </a:rPr>
              <a:t>F = EMA(g^2), Hessian proxy</a:t>
            </a:r>
            <a:endParaRPr lang="en-US" sz="1500" dirty="0"/>
          </a:p>
        </p:txBody>
      </p:sp>
      <p:graphicFrame>
        <p:nvGraphicFramePr>
          <p:cNvPr id="14" name="Chart 0" descr=""/>
          <p:cNvGraphicFramePr/>
          <p:nvPr/>
        </p:nvGraphicFramePr>
        <p:xfrm>
          <a:off x="5029200" y="1965960"/>
          <a:ext cx="3657600" cy="26974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E556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Prune gradually, then recover</a:t>
            </a:r>
            <a:endParaRPr lang="en-US" sz="3000" dirty="0"/>
          </a:p>
        </p:txBody>
      </p:sp>
      <p:sp>
        <p:nvSpPr>
          <p:cNvPr id="3" name="phase-0"/>
          <p:cNvSpPr/>
          <p:nvPr/>
        </p:nvSpPr>
        <p:spPr>
          <a:xfrm>
            <a:off x="457200" y="1188720"/>
            <a:ext cx="1179576" cy="1234440"/>
          </a:xfrm>
          <a:prstGeom prst="rect">
            <a:avLst/>
          </a:prstGeom>
          <a:solidFill>
            <a:srgbClr val="5B8DB8"/>
          </a:solidFill>
          <a:ln w="12700">
            <a:solidFill>
              <a:srgbClr val="5B8DB8"/>
            </a:solidFill>
            <a:prstDash val="solid"/>
          </a:ln>
        </p:spPr>
      </p:sp>
      <p:sp>
        <p:nvSpPr>
          <p:cNvPr id="4" name="phasetxt-0"/>
          <p:cNvSpPr txBox="1"/>
          <p:nvPr/>
        </p:nvSpPr>
        <p:spPr>
          <a:xfrm>
            <a:off x="548640" y="1234440"/>
            <a:ext cx="996696" cy="11430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Warm-up</a:t>
            </a:r>
            <a:endParaRPr lang="en-US" sz="1600" dirty="0"/>
          </a:p>
          <a:p>
            <a:pPr indent="0" marL="0">
              <a:buNone/>
            </a:pPr>
            <a:r>
              <a:rPr lang="en-US" sz="1200" dirty="0">
                <a:solidFill>
                  <a:srgbClr val="FFFFFF"/>
                </a:solidFill>
              </a:rPr>
              <a:t>0 to 15% of steps</a:t>
            </a:r>
            <a:endParaRPr lang="en-US" sz="1600" dirty="0"/>
          </a:p>
        </p:txBody>
      </p:sp>
      <p:sp>
        <p:nvSpPr>
          <p:cNvPr id="5" name="phase-1"/>
          <p:cNvSpPr/>
          <p:nvPr/>
        </p:nvSpPr>
        <p:spPr>
          <a:xfrm>
            <a:off x="1691640" y="1188720"/>
            <a:ext cx="4471416" cy="1234440"/>
          </a:xfrm>
          <a:prstGeom prst="rect">
            <a:avLst/>
          </a:prstGeom>
          <a:solidFill>
            <a:srgbClr val="0E7C86"/>
          </a:solidFill>
          <a:ln w="12700">
            <a:solidFill>
              <a:srgbClr val="0E7C86"/>
            </a:solidFill>
            <a:prstDash val="solid"/>
          </a:ln>
        </p:spPr>
      </p:sp>
      <p:sp>
        <p:nvSpPr>
          <p:cNvPr id="6" name="phasetxt-1"/>
          <p:cNvSpPr txBox="1"/>
          <p:nvPr/>
        </p:nvSpPr>
        <p:spPr>
          <a:xfrm>
            <a:off x="1783080" y="1234440"/>
            <a:ext cx="4288536" cy="11430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Cubic sparsity ramp</a:t>
            </a:r>
            <a:endParaRPr lang="en-US" sz="1600" dirty="0"/>
          </a:p>
          <a:p>
            <a:pPr indent="0" marL="0">
              <a:buNone/>
            </a:pPr>
            <a:r>
              <a:rPr lang="en-US" sz="1200" dirty="0">
                <a:solidFill>
                  <a:srgbClr val="FFFFFF"/>
                </a:solidFill>
              </a:rPr>
              <a:t>15 to 70%</a:t>
            </a:r>
            <a:endParaRPr lang="en-US" sz="1600" dirty="0"/>
          </a:p>
        </p:txBody>
      </p:sp>
      <p:sp>
        <p:nvSpPr>
          <p:cNvPr id="7" name="phase-2"/>
          <p:cNvSpPr/>
          <p:nvPr/>
        </p:nvSpPr>
        <p:spPr>
          <a:xfrm>
            <a:off x="6217920" y="1188720"/>
            <a:ext cx="2414016" cy="1234440"/>
          </a:xfrm>
          <a:prstGeom prst="rect">
            <a:avLst/>
          </a:prstGeom>
          <a:solidFill>
            <a:srgbClr val="2E9E6B"/>
          </a:solidFill>
          <a:ln w="12700">
            <a:solidFill>
              <a:srgbClr val="2E9E6B"/>
            </a:solidFill>
            <a:prstDash val="solid"/>
          </a:ln>
        </p:spPr>
      </p:sp>
      <p:sp>
        <p:nvSpPr>
          <p:cNvPr id="8" name="phasetxt-2"/>
          <p:cNvSpPr txBox="1"/>
          <p:nvPr/>
        </p:nvSpPr>
        <p:spPr>
          <a:xfrm>
            <a:off x="6309360" y="1234440"/>
            <a:ext cx="2231136" cy="11430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Fine-tune</a:t>
            </a:r>
            <a:endParaRPr lang="en-US" sz="1600" dirty="0"/>
          </a:p>
          <a:p>
            <a:pPr indent="0" marL="0">
              <a:buNone/>
            </a:pPr>
            <a:r>
              <a:rPr lang="en-US" sz="1200" dirty="0">
                <a:solidFill>
                  <a:srgbClr val="FFFFFF"/>
                </a:solidFill>
              </a:rPr>
              <a:t>70 to 100%</a:t>
            </a:r>
            <a:endParaRPr lang="en-US" sz="1600" dirty="0"/>
          </a:p>
        </p:txBody>
      </p:sp>
      <p:sp>
        <p:nvSpPr>
          <p:cNvPr id="9" name="schedcard-0"/>
          <p:cNvSpPr/>
          <p:nvPr/>
        </p:nvSpPr>
        <p:spPr>
          <a:xfrm>
            <a:off x="457200" y="2697480"/>
            <a:ext cx="4023360" cy="1965960"/>
          </a:xfrm>
          <a:prstGeom prst="roundRect">
            <a:avLst>
              <a:gd name="adj" fmla="val 46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iconbg-sched0"/>
          <p:cNvSpPr/>
          <p:nvPr/>
        </p:nvSpPr>
        <p:spPr>
          <a:xfrm>
            <a:off x="640080" y="2834640"/>
            <a:ext cx="457200" cy="457200"/>
          </a:xfrm>
          <a:prstGeom prst="ellipse">
            <a:avLst/>
          </a:prstGeom>
          <a:solidFill>
            <a:srgbClr val="0E7C86"/>
          </a:solidFill>
          <a:ln w="12700">
            <a:solidFill>
              <a:srgbClr val="0E7C86"/>
            </a:solidFill>
            <a:prstDash val="solid"/>
          </a:ln>
        </p:spPr>
      </p:sp>
      <p:pic>
        <p:nvPicPr>
          <p:cNvPr id="11" name="icon-sched0" descr="sched0">    </p:cNvPr>
          <p:cNvPicPr>
            <a:picLocks noChangeAspect="1"/>
          </p:cNvPicPr>
          <p:nvPr/>
        </p:nvPicPr>
        <p:blipFill>
          <a:blip r:embed="rId1"/>
          <a:stretch>
            <a:fillRect/>
          </a:stretch>
        </p:blipFill>
        <p:spPr>
          <a:xfrm>
            <a:off x="754380" y="2948940"/>
            <a:ext cx="228600" cy="228600"/>
          </a:xfrm>
          <a:prstGeom prst="rect">
            <a:avLst/>
          </a:prstGeom>
        </p:spPr>
      </p:pic>
      <p:sp>
        <p:nvSpPr>
          <p:cNvPr id="12" name="schedhead-0"/>
          <p:cNvSpPr txBox="1"/>
          <p:nvPr/>
        </p:nvSpPr>
        <p:spPr>
          <a:xfrm>
            <a:off x="1234440" y="2834640"/>
            <a:ext cx="310896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Why a cubic ramp</a:t>
            </a:r>
            <a:endParaRPr lang="en-US" sz="1800" dirty="0"/>
          </a:p>
        </p:txBody>
      </p:sp>
      <p:sp>
        <p:nvSpPr>
          <p:cNvPr id="13" name="schedbody-0"/>
          <p:cNvSpPr txBox="1"/>
          <p:nvPr/>
        </p:nvSpPr>
        <p:spPr>
          <a:xfrm>
            <a:off x="685800" y="3429000"/>
            <a:ext cx="3611880" cy="1188720"/>
          </a:xfrm>
          <a:prstGeom prst="rect">
            <a:avLst/>
          </a:prstGeom>
          <a:noFill/>
          <a:ln/>
        </p:spPr>
        <p:txBody>
          <a:bodyPr wrap="square" lIns="0" tIns="0" rIns="0" bIns="0" rtlCol="0" anchor="t"/>
          <a:lstStyle/>
          <a:p>
            <a:pPr indent="0" marL="0">
              <a:buNone/>
            </a:pPr>
            <a:r>
              <a:rPr lang="en-US" sz="1400" dirty="0">
                <a:solidFill>
                  <a:schemeClr val="tx1"/>
                </a:solidFill>
              </a:rPr>
              <a:t>Redundancy is high early, so prune fast. Near the target each removal hurts more, so slow down. One-shot pruning gives the network no chance to adapt in between.</a:t>
            </a:r>
            <a:endParaRPr lang="en-US" sz="1400" dirty="0"/>
          </a:p>
        </p:txBody>
      </p:sp>
      <p:sp>
        <p:nvSpPr>
          <p:cNvPr id="14" name="schedcard-1"/>
          <p:cNvSpPr/>
          <p:nvPr/>
        </p:nvSpPr>
        <p:spPr>
          <a:xfrm>
            <a:off x="4663440" y="2697480"/>
            <a:ext cx="4023360" cy="1965960"/>
          </a:xfrm>
          <a:prstGeom prst="roundRect">
            <a:avLst>
              <a:gd name="adj" fmla="val 46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iconbg-sched1"/>
          <p:cNvSpPr/>
          <p:nvPr/>
        </p:nvSpPr>
        <p:spPr>
          <a:xfrm>
            <a:off x="4846320" y="2834640"/>
            <a:ext cx="457200" cy="457200"/>
          </a:xfrm>
          <a:prstGeom prst="ellipse">
            <a:avLst/>
          </a:prstGeom>
          <a:solidFill>
            <a:srgbClr val="0E7C86"/>
          </a:solidFill>
          <a:ln w="12700">
            <a:solidFill>
              <a:srgbClr val="0E7C86"/>
            </a:solidFill>
            <a:prstDash val="solid"/>
          </a:ln>
        </p:spPr>
      </p:sp>
      <p:pic>
        <p:nvPicPr>
          <p:cNvPr id="16" name="icon-sched1" descr="sched1">    </p:cNvPr>
          <p:cNvPicPr>
            <a:picLocks noChangeAspect="1"/>
          </p:cNvPicPr>
          <p:nvPr/>
        </p:nvPicPr>
        <p:blipFill>
          <a:blip r:embed="rId2"/>
          <a:stretch>
            <a:fillRect/>
          </a:stretch>
        </p:blipFill>
        <p:spPr>
          <a:xfrm>
            <a:off x="4960620" y="2948940"/>
            <a:ext cx="228600" cy="228600"/>
          </a:xfrm>
          <a:prstGeom prst="rect">
            <a:avLst/>
          </a:prstGeom>
        </p:spPr>
      </p:pic>
      <p:sp>
        <p:nvSpPr>
          <p:cNvPr id="17" name="schedhead-1"/>
          <p:cNvSpPr txBox="1"/>
          <p:nvPr/>
        </p:nvSpPr>
        <p:spPr>
          <a:xfrm>
            <a:off x="5440680" y="2834640"/>
            <a:ext cx="310896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Regrowth (RigL-style)</a:t>
            </a:r>
            <a:endParaRPr lang="en-US" sz="1800" dirty="0"/>
          </a:p>
        </p:txBody>
      </p:sp>
      <p:sp>
        <p:nvSpPr>
          <p:cNvPr id="18" name="schedbody-1"/>
          <p:cNvSpPr txBox="1"/>
          <p:nvPr/>
        </p:nvSpPr>
        <p:spPr>
          <a:xfrm>
            <a:off x="4892040" y="3429000"/>
            <a:ext cx="3611880" cy="1188720"/>
          </a:xfrm>
          <a:prstGeom prst="rect">
            <a:avLst/>
          </a:prstGeom>
          <a:noFill/>
          <a:ln/>
        </p:spPr>
        <p:txBody>
          <a:bodyPr wrap="square" lIns="0" tIns="0" rIns="0" bIns="0" rtlCol="0" anchor="t"/>
          <a:lstStyle/>
          <a:p>
            <a:pPr indent="0" marL="0">
              <a:buNone/>
            </a:pPr>
            <a:r>
              <a:rPr lang="en-US" sz="1400" dirty="0">
                <a:solidFill>
                  <a:schemeClr val="tx1"/>
                </a:solidFill>
              </a:rPr>
              <a:t>Each update prunes to K minus r, then revives the r dead slots with the largest gradient. The swap budget decays to zero by 70% so the mask settles.</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E556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Pareto: 99% sparse, ~1.5 pp lost</a:t>
            </a:r>
            <a:endParaRPr lang="en-US" sz="3000" dirty="0"/>
          </a:p>
        </p:txBody>
      </p:sp>
      <p:graphicFrame>
        <p:nvGraphicFramePr>
          <p:cNvPr id="3" name="Chart 0" descr=""/>
          <p:cNvGraphicFramePr/>
          <p:nvPr/>
        </p:nvGraphicFramePr>
        <p:xfrm>
          <a:off x="457200" y="1097280"/>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4" name="pstat-0"/>
          <p:cNvSpPr/>
          <p:nvPr/>
        </p:nvSpPr>
        <p:spPr>
          <a:xfrm>
            <a:off x="6492240" y="1188720"/>
            <a:ext cx="2194560" cy="1051560"/>
          </a:xfrm>
          <a:prstGeom prst="roundRect">
            <a:avLst>
              <a:gd name="adj" fmla="val 8696"/>
            </a:avLst>
          </a:prstGeom>
          <a:solidFill>
            <a:schemeClr val="bg2"/>
          </a:solidFill>
          <a:ln w="12700">
            <a:solidFill>
              <a:schemeClr val="bg2"/>
            </a:solidFill>
            <a:prstDash val="solid"/>
          </a:ln>
        </p:spPr>
      </p:sp>
      <p:sp>
        <p:nvSpPr>
          <p:cNvPr id="5" name="ptxt-0"/>
          <p:cNvSpPr txBox="1"/>
          <p:nvPr/>
        </p:nvSpPr>
        <p:spPr>
          <a:xfrm>
            <a:off x="6629400" y="1234440"/>
            <a:ext cx="1965960" cy="960120"/>
          </a:xfrm>
          <a:prstGeom prst="rect">
            <a:avLst/>
          </a:prstGeom>
          <a:noFill/>
          <a:ln/>
        </p:spPr>
        <p:txBody>
          <a:bodyPr wrap="square" lIns="0" tIns="0" rIns="0" bIns="0" rtlCol="0" anchor="ctr"/>
          <a:lstStyle/>
          <a:p>
            <a:pPr indent="0" marL="0">
              <a:buNone/>
            </a:pPr>
            <a:r>
              <a:rPr lang="en-US" sz="1800" b="1" dirty="0">
                <a:solidFill>
                  <a:srgbClr val="0E7C86"/>
                </a:solidFill>
                <a:latin typeface="Cambria" pitchFamily="34" charset="0"/>
                <a:ea typeface="Cambria" pitchFamily="34" charset="-122"/>
                <a:cs typeface="Cambria" pitchFamily="34" charset="-120"/>
              </a:rPr>
              <a:t>8 seeds</a:t>
            </a:r>
            <a:endParaRPr lang="en-US" sz="1800" dirty="0"/>
          </a:p>
          <a:p>
            <a:pPr indent="0" marL="0">
              <a:buNone/>
            </a:pPr>
            <a:r>
              <a:rPr lang="en-US" sz="1200" dirty="0">
                <a:solidFill>
                  <a:srgbClr val="3E5563"/>
                </a:solidFill>
              </a:rPr>
              <a:t>mean of paired runs, per-point sd 0.3 to 1.0 pp</a:t>
            </a:r>
            <a:endParaRPr lang="en-US" sz="1800" dirty="0"/>
          </a:p>
        </p:txBody>
      </p:sp>
      <p:sp>
        <p:nvSpPr>
          <p:cNvPr id="6" name="pstat-1"/>
          <p:cNvSpPr/>
          <p:nvPr/>
        </p:nvSpPr>
        <p:spPr>
          <a:xfrm>
            <a:off x="6492240" y="2377440"/>
            <a:ext cx="2194560" cy="1051560"/>
          </a:xfrm>
          <a:prstGeom prst="roundRect">
            <a:avLst>
              <a:gd name="adj" fmla="val 8696"/>
            </a:avLst>
          </a:prstGeom>
          <a:solidFill>
            <a:schemeClr val="bg2"/>
          </a:solidFill>
          <a:ln w="12700">
            <a:solidFill>
              <a:schemeClr val="bg2"/>
            </a:solidFill>
            <a:prstDash val="solid"/>
          </a:ln>
        </p:spPr>
      </p:sp>
      <p:sp>
        <p:nvSpPr>
          <p:cNvPr id="7" name="ptxt-1"/>
          <p:cNvSpPr txBox="1"/>
          <p:nvPr/>
        </p:nvSpPr>
        <p:spPr>
          <a:xfrm>
            <a:off x="6629400" y="2423160"/>
            <a:ext cx="1965960" cy="960120"/>
          </a:xfrm>
          <a:prstGeom prst="rect">
            <a:avLst/>
          </a:prstGeom>
          <a:noFill/>
          <a:ln/>
        </p:spPr>
        <p:txBody>
          <a:bodyPr wrap="square" lIns="0" tIns="0" rIns="0" bIns="0" rtlCol="0" anchor="ctr"/>
          <a:lstStyle/>
          <a:p>
            <a:pPr indent="0" marL="0">
              <a:buNone/>
            </a:pPr>
            <a:r>
              <a:rPr lang="en-US" sz="1800" b="1" dirty="0">
                <a:solidFill>
                  <a:srgbClr val="0E7C86"/>
                </a:solidFill>
                <a:latin typeface="Cambria" pitchFamily="34" charset="0"/>
                <a:ea typeface="Cambria" pitchFamily="34" charset="-122"/>
                <a:cs typeface="Cambria" pitchFamily="34" charset="-120"/>
              </a:rPr>
              <a:t>Exact zeros</a:t>
            </a:r>
            <a:endParaRPr lang="en-US" sz="1800" dirty="0"/>
          </a:p>
          <a:p>
            <a:pPr indent="0" marL="0">
              <a:buNone/>
            </a:pPr>
            <a:r>
              <a:rPr lang="en-US" sz="1200" dirty="0">
                <a:solidFill>
                  <a:srgbClr val="3E5563"/>
                </a:solidFill>
              </a:rPr>
              <a:t>sparsity counted from real zeros in storage</a:t>
            </a:r>
            <a:endParaRPr lang="en-US" sz="1800" dirty="0"/>
          </a:p>
        </p:txBody>
      </p:sp>
      <p:sp>
        <p:nvSpPr>
          <p:cNvPr id="8" name="pstat-2"/>
          <p:cNvSpPr/>
          <p:nvPr/>
        </p:nvSpPr>
        <p:spPr>
          <a:xfrm>
            <a:off x="6492240" y="3566160"/>
            <a:ext cx="2194560" cy="1051560"/>
          </a:xfrm>
          <a:prstGeom prst="roundRect">
            <a:avLst>
              <a:gd name="adj" fmla="val 8696"/>
            </a:avLst>
          </a:prstGeom>
          <a:solidFill>
            <a:schemeClr val="bg2"/>
          </a:solidFill>
          <a:ln w="12700">
            <a:solidFill>
              <a:schemeClr val="bg2"/>
            </a:solidFill>
            <a:prstDash val="solid"/>
          </a:ln>
        </p:spPr>
      </p:sp>
      <p:sp>
        <p:nvSpPr>
          <p:cNvPr id="9" name="ptxt-2"/>
          <p:cNvSpPr txBox="1"/>
          <p:nvPr/>
        </p:nvSpPr>
        <p:spPr>
          <a:xfrm>
            <a:off x="6629400" y="3611880"/>
            <a:ext cx="1965960" cy="960120"/>
          </a:xfrm>
          <a:prstGeom prst="rect">
            <a:avLst/>
          </a:prstGeom>
          <a:noFill/>
          <a:ln/>
        </p:spPr>
        <p:txBody>
          <a:bodyPr wrap="square" lIns="0" tIns="0" rIns="0" bIns="0" rtlCol="0" anchor="ctr"/>
          <a:lstStyle/>
          <a:p>
            <a:pPr indent="0" marL="0">
              <a:buNone/>
            </a:pPr>
            <a:r>
              <a:rPr lang="en-US" sz="1800" b="1" dirty="0">
                <a:solidFill>
                  <a:srgbClr val="0E7C86"/>
                </a:solidFill>
                <a:latin typeface="Cambria" pitchFamily="34" charset="0"/>
                <a:ea typeface="Cambria" pitchFamily="34" charset="-122"/>
                <a:cs typeface="Cambria" pitchFamily="34" charset="-120"/>
              </a:rPr>
              <a:t>504 weights</a:t>
            </a:r>
            <a:endParaRPr lang="en-US" sz="1800" dirty="0"/>
          </a:p>
          <a:p>
            <a:pPr indent="0" marL="0">
              <a:buNone/>
            </a:pPr>
            <a:r>
              <a:rPr lang="en-US" sz="1200" dirty="0">
                <a:solidFill>
                  <a:srgbClr val="3E5563"/>
                </a:solidFill>
              </a:rPr>
              <a:t>remain of 50,432 at 99%</a:t>
            </a:r>
            <a:endParaRPr lang="en-US" sz="18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E556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Saliency vs magnitude: a tie</a:t>
            </a:r>
            <a:endParaRPr lang="en-US" sz="3000" dirty="0"/>
          </a:p>
        </p:txBody>
      </p:sp>
      <p:graphicFrame>
        <p:nvGraphicFramePr>
          <p:cNvPr id="10" name="paired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097280"/>
                <a:gridCol w="1828800"/>
                <a:gridCol w="1828800"/>
                <a:gridCol w="1828800"/>
                <a:gridCol w="1645920"/>
              </a:tblGrid>
              <a:tr h="384048">
                <a:tc>
                  <a:txBody>
                    <a:bodyPr/>
                    <a:lstStyle/>
                    <a:p>
                      <a:pPr algn="ctr" indent="0" marL="0">
                        <a:buNone/>
                      </a:pPr>
                      <a:r>
                        <a:rPr lang="en-US" sz="1300" b="1" dirty="0">
                          <a:solidFill>
                            <a:srgbClr val="FFFFFF"/>
                          </a:solidFill>
                        </a:rPr>
                        <a:t>Sparsity</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rPr>
                        <a:t>Method</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rPr>
                        <a:t>Diff vs magnitude</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rPr>
                        <a:t>95% CI</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rPr>
                        <a:t>Seeds W / L / T</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0B2A3C"/>
                    </a:solidFill>
                  </a:tcPr>
                </a:tc>
              </a:tr>
              <a:tr h="384048">
                <a:tc>
                  <a:txBody>
                    <a:bodyPr/>
                    <a:lstStyle/>
                    <a:p>
                      <a:pPr algn="ctr" indent="0" marL="0">
                        <a:buNone/>
                      </a:pPr>
                      <a:r>
                        <a:rPr lang="en-US" sz="1300" dirty="0">
                          <a:solidFill>
                            <a:srgbClr val="0B2A3C"/>
                          </a:solidFill>
                        </a:rPr>
                        <a:t>90%</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Fisher</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+0.21 pp</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[-0.28, +0.69]</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5 / 3 / 0</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0B2A3C"/>
                          </a:solidFill>
                        </a:rPr>
                        <a:t>95%</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Fisher</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+0.03 pp</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[-0.49, +0.52]</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4 / 2 / 2</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0B2A3C"/>
                          </a:solidFill>
                        </a:rPr>
                        <a:t>99%</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Fisher</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-0.17 pp</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[-0.69, +0.42]</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3 / 5 / 0</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0B2A3C"/>
                          </a:solidFill>
                        </a:rPr>
                        <a:t>99%</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Fisher + regrow</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+0.52 pp</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[-0.14, +1.15]</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A3C"/>
                          </a:solidFill>
                        </a:rPr>
                        <a:t>6 / 2 / 0</a:t>
                      </a:r>
                      <a:endParaRPr lang="en-US" sz="1300" dirty="0"/>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FFFFFF"/>
                    </a:solidFill>
                  </a:tcPr>
                </a:tc>
              </a:tr>
            </a:tbl>
          </a:graphicData>
        </a:graphic>
      </p:graphicFrame>
      <p:sp>
        <p:nvSpPr>
          <p:cNvPr id="4" name="tiecard-0"/>
          <p:cNvSpPr/>
          <p:nvPr/>
        </p:nvSpPr>
        <p:spPr>
          <a:xfrm>
            <a:off x="457200" y="3383280"/>
            <a:ext cx="4023360" cy="1280160"/>
          </a:xfrm>
          <a:prstGeom prst="roundRect">
            <a:avLst>
              <a:gd name="adj" fmla="val 7143"/>
            </a:avLst>
          </a:prstGeom>
          <a:solidFill>
            <a:schemeClr val="bg2"/>
          </a:solidFill>
          <a:ln w="12700">
            <a:solidFill>
              <a:schemeClr val="bg2"/>
            </a:solidFill>
            <a:prstDash val="solid"/>
          </a:ln>
        </p:spPr>
      </p:sp>
      <p:sp>
        <p:nvSpPr>
          <p:cNvPr id="5" name="iconbg-tie0"/>
          <p:cNvSpPr/>
          <p:nvPr/>
        </p:nvSpPr>
        <p:spPr>
          <a:xfrm>
            <a:off x="640080" y="3611880"/>
            <a:ext cx="502920" cy="502920"/>
          </a:xfrm>
          <a:prstGeom prst="ellipse">
            <a:avLst/>
          </a:prstGeom>
          <a:solidFill>
            <a:srgbClr val="D64F4F"/>
          </a:solidFill>
          <a:ln w="12700">
            <a:solidFill>
              <a:srgbClr val="D64F4F"/>
            </a:solidFill>
            <a:prstDash val="solid"/>
          </a:ln>
        </p:spPr>
      </p:sp>
      <p:pic>
        <p:nvPicPr>
          <p:cNvPr id="6" name="icon-tie0" descr="tie0">    </p:cNvPr>
          <p:cNvPicPr>
            <a:picLocks noChangeAspect="1"/>
          </p:cNvPicPr>
          <p:nvPr/>
        </p:nvPicPr>
        <p:blipFill>
          <a:blip r:embed="rId1"/>
          <a:stretch>
            <a:fillRect/>
          </a:stretch>
        </p:blipFill>
        <p:spPr>
          <a:xfrm>
            <a:off x="765810" y="3737610"/>
            <a:ext cx="251460" cy="251460"/>
          </a:xfrm>
          <a:prstGeom prst="rect">
            <a:avLst/>
          </a:prstGeom>
        </p:spPr>
      </p:pic>
      <p:sp>
        <p:nvSpPr>
          <p:cNvPr id="7" name="tietxt-0"/>
          <p:cNvSpPr txBox="1"/>
          <p:nvPr/>
        </p:nvSpPr>
        <p:spPr>
          <a:xfrm>
            <a:off x="1325880" y="3474720"/>
            <a:ext cx="3017520" cy="1097280"/>
          </a:xfrm>
          <a:prstGeom prst="rect">
            <a:avLst/>
          </a:prstGeom>
          <a:noFill/>
          <a:ln/>
        </p:spPr>
        <p:txBody>
          <a:bodyPr wrap="square" lIns="0" tIns="0" rIns="0" bIns="0" rtlCol="0" anchor="ctr"/>
          <a:lstStyle/>
          <a:p>
            <a:pPr indent="0" marL="0">
              <a:buNone/>
            </a:pPr>
            <a:r>
              <a:rPr lang="en-US" sz="1400" dirty="0">
                <a:solidFill>
                  <a:schemeClr val="tx1"/>
                </a:solidFill>
              </a:rPr>
              <a:t>Every confidence interval contains zero, so I cannot claim saliency beats magnitude on this task.</a:t>
            </a:r>
            <a:endParaRPr lang="en-US" sz="1400" dirty="0"/>
          </a:p>
        </p:txBody>
      </p:sp>
      <p:sp>
        <p:nvSpPr>
          <p:cNvPr id="8" name="tiecard-1"/>
          <p:cNvSpPr/>
          <p:nvPr/>
        </p:nvSpPr>
        <p:spPr>
          <a:xfrm>
            <a:off x="4663440" y="3383280"/>
            <a:ext cx="4023360" cy="1280160"/>
          </a:xfrm>
          <a:prstGeom prst="roundRect">
            <a:avLst>
              <a:gd name="adj" fmla="val 7143"/>
            </a:avLst>
          </a:prstGeom>
          <a:solidFill>
            <a:schemeClr val="bg2"/>
          </a:solidFill>
          <a:ln w="12700">
            <a:solidFill>
              <a:schemeClr val="bg2"/>
            </a:solidFill>
            <a:prstDash val="solid"/>
          </a:ln>
        </p:spPr>
      </p:sp>
      <p:sp>
        <p:nvSpPr>
          <p:cNvPr id="9" name="iconbg-tie1"/>
          <p:cNvSpPr/>
          <p:nvPr/>
        </p:nvSpPr>
        <p:spPr>
          <a:xfrm>
            <a:off x="4846320" y="3611880"/>
            <a:ext cx="502920" cy="502920"/>
          </a:xfrm>
          <a:prstGeom prst="ellipse">
            <a:avLst/>
          </a:prstGeom>
          <a:solidFill>
            <a:srgbClr val="F2994A"/>
          </a:solidFill>
          <a:ln w="12700">
            <a:solidFill>
              <a:srgbClr val="F2994A"/>
            </a:solidFill>
            <a:prstDash val="solid"/>
          </a:ln>
        </p:spPr>
      </p:sp>
      <p:pic>
        <p:nvPicPr>
          <p:cNvPr id="10" name="icon-tie1" descr="tie1">    </p:cNvPr>
          <p:cNvPicPr>
            <a:picLocks noChangeAspect="1"/>
          </p:cNvPicPr>
          <p:nvPr/>
        </p:nvPicPr>
        <p:blipFill>
          <a:blip r:embed="rId2"/>
          <a:stretch>
            <a:fillRect/>
          </a:stretch>
        </p:blipFill>
        <p:spPr>
          <a:xfrm>
            <a:off x="4972050" y="3737610"/>
            <a:ext cx="251460" cy="251460"/>
          </a:xfrm>
          <a:prstGeom prst="rect">
            <a:avLst/>
          </a:prstGeom>
        </p:spPr>
      </p:pic>
      <p:sp>
        <p:nvSpPr>
          <p:cNvPr id="11" name="tietxt-1"/>
          <p:cNvSpPr txBox="1"/>
          <p:nvPr/>
        </p:nvSpPr>
        <p:spPr>
          <a:xfrm>
            <a:off x="5532120" y="3474720"/>
            <a:ext cx="3017520" cy="1097280"/>
          </a:xfrm>
          <a:prstGeom prst="rect">
            <a:avLst/>
          </a:prstGeom>
          <a:noFill/>
          <a:ln/>
        </p:spPr>
        <p:txBody>
          <a:bodyPr wrap="square" lIns="0" tIns="0" rIns="0" bIns="0" rtlCol="0" anchor="ctr"/>
          <a:lstStyle/>
          <a:p>
            <a:pPr indent="0" marL="0">
              <a:buNone/>
            </a:pPr>
            <a:r>
              <a:rPr lang="en-US" sz="1400" dirty="0">
                <a:solidFill>
                  <a:schemeClr val="tx1"/>
                </a:solidFill>
              </a:rPr>
              <a:t>One test sample is 0.28 pp and the test set has 360, so a 0.5 pp gap is under 2 samples.</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E556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Real cost: structure beats zeros</a:t>
            </a:r>
            <a:endParaRPr lang="en-US" sz="3000" dirty="0"/>
          </a:p>
        </p:txBody>
      </p:sp>
      <p:graphicFrame>
        <p:nvGraphicFramePr>
          <p:cNvPr id="3" name="Chart 0" descr=""/>
          <p:cNvGraphicFramePr/>
          <p:nvPr/>
        </p:nvGraphicFramePr>
        <p:xfrm>
          <a:off x="457200" y="1097280"/>
          <a:ext cx="5394960" cy="3566160"/>
        </p:xfrm>
        <a:graphic xmlns:a="http://schemas.openxmlformats.org/drawingml/2006/main">
          <a:graphicData uri="http://schemas.openxmlformats.org/drawingml/2006/chart">
            <c:chart xmlns:c="http://schemas.openxmlformats.org/drawingml/2006/chart" r:id="rId1"/>
          </a:graphicData>
        </a:graphic>
      </p:graphicFrame>
      <p:sp>
        <p:nvSpPr>
          <p:cNvPr id="4" name="cost-0"/>
          <p:cNvSpPr/>
          <p:nvPr/>
        </p:nvSpPr>
        <p:spPr>
          <a:xfrm>
            <a:off x="6126480" y="1188720"/>
            <a:ext cx="2560320" cy="1051560"/>
          </a:xfrm>
          <a:prstGeom prst="roundRect">
            <a:avLst>
              <a:gd name="adj" fmla="val 8696"/>
            </a:avLst>
          </a:prstGeom>
          <a:solidFill>
            <a:schemeClr val="bg2"/>
          </a:solidFill>
          <a:ln w="12700">
            <a:solidFill>
              <a:schemeClr val="bg2"/>
            </a:solidFill>
            <a:prstDash val="solid"/>
          </a:ln>
        </p:spPr>
      </p:sp>
      <p:sp>
        <p:nvSpPr>
          <p:cNvPr id="5" name="costnum-0"/>
          <p:cNvSpPr txBox="1"/>
          <p:nvPr/>
        </p:nvSpPr>
        <p:spPr>
          <a:xfrm>
            <a:off x="6263640" y="1234440"/>
            <a:ext cx="1051560" cy="9601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100x</a:t>
            </a:r>
            <a:endParaRPr lang="en-US" sz="2200" dirty="0"/>
          </a:p>
        </p:txBody>
      </p:sp>
      <p:sp>
        <p:nvSpPr>
          <p:cNvPr id="6" name="costlbl-0"/>
          <p:cNvSpPr txBox="1"/>
          <p:nvPr/>
        </p:nvSpPr>
        <p:spPr>
          <a:xfrm>
            <a:off x="7315200" y="1234440"/>
            <a:ext cx="1325880" cy="960120"/>
          </a:xfrm>
          <a:prstGeom prst="rect">
            <a:avLst/>
          </a:prstGeom>
          <a:noFill/>
          <a:ln/>
        </p:spPr>
        <p:txBody>
          <a:bodyPr wrap="square" lIns="0" tIns="0" rIns="0" bIns="0" rtlCol="0" anchor="ctr"/>
          <a:lstStyle/>
          <a:p>
            <a:pPr indent="0" marL="0">
              <a:buNone/>
            </a:pPr>
            <a:r>
              <a:rPr lang="en-US" sz="1200" dirty="0">
                <a:solidFill>
                  <a:schemeClr val="tx2"/>
                </a:solidFill>
              </a:rPr>
              <a:t>fewer MACs per sample at 99% (50,432 to 504)</a:t>
            </a:r>
            <a:endParaRPr lang="en-US" sz="1200" dirty="0"/>
          </a:p>
        </p:txBody>
      </p:sp>
      <p:sp>
        <p:nvSpPr>
          <p:cNvPr id="7" name="cost-1"/>
          <p:cNvSpPr/>
          <p:nvPr/>
        </p:nvSpPr>
        <p:spPr>
          <a:xfrm>
            <a:off x="6126480" y="2377440"/>
            <a:ext cx="2560320" cy="1051560"/>
          </a:xfrm>
          <a:prstGeom prst="roundRect">
            <a:avLst>
              <a:gd name="adj" fmla="val 8696"/>
            </a:avLst>
          </a:prstGeom>
          <a:solidFill>
            <a:schemeClr val="tx1"/>
          </a:solidFill>
          <a:ln w="12700">
            <a:solidFill>
              <a:schemeClr val="tx1"/>
            </a:solidFill>
            <a:prstDash val="solid"/>
          </a:ln>
        </p:spPr>
      </p:sp>
      <p:sp>
        <p:nvSpPr>
          <p:cNvPr id="8" name="costnum-1"/>
          <p:cNvSpPr txBox="1"/>
          <p:nvPr/>
        </p:nvSpPr>
        <p:spPr>
          <a:xfrm>
            <a:off x="6263640" y="2423160"/>
            <a:ext cx="1051560" cy="96012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Slower</a:t>
            </a:r>
            <a:endParaRPr lang="en-US" sz="2200" dirty="0"/>
          </a:p>
        </p:txBody>
      </p:sp>
      <p:sp>
        <p:nvSpPr>
          <p:cNvPr id="9" name="costlbl-1"/>
          <p:cNvSpPr txBox="1"/>
          <p:nvPr/>
        </p:nvSpPr>
        <p:spPr>
          <a:xfrm>
            <a:off x="7315200" y="2423160"/>
            <a:ext cx="1325880" cy="960120"/>
          </a:xfrm>
          <a:prstGeom prst="rect">
            <a:avLst/>
          </a:prstGeom>
          <a:noFill/>
          <a:ln/>
        </p:spPr>
        <p:txBody>
          <a:bodyPr wrap="square" lIns="0" tIns="0" rIns="0" bIns="0" rtlCol="0" anchor="ctr"/>
          <a:lstStyle/>
          <a:p>
            <a:pPr indent="0" marL="0">
              <a:buNone/>
            </a:pPr>
            <a:r>
              <a:rPr lang="en-US" sz="1200" dirty="0">
                <a:solidFill>
                  <a:schemeClr val="bg1"/>
                </a:solidFill>
              </a:rPr>
              <a:t>my NumPy sparse kernel, until about 99%</a:t>
            </a:r>
            <a:endParaRPr lang="en-US" sz="1200" dirty="0"/>
          </a:p>
        </p:txBody>
      </p:sp>
      <p:sp>
        <p:nvSpPr>
          <p:cNvPr id="10" name="cost-2"/>
          <p:cNvSpPr/>
          <p:nvPr/>
        </p:nvSpPr>
        <p:spPr>
          <a:xfrm>
            <a:off x="6126480" y="3566160"/>
            <a:ext cx="2560320" cy="1051560"/>
          </a:xfrm>
          <a:prstGeom prst="roundRect">
            <a:avLst>
              <a:gd name="adj" fmla="val 8696"/>
            </a:avLst>
          </a:prstGeom>
          <a:solidFill>
            <a:schemeClr val="bg2"/>
          </a:solidFill>
          <a:ln w="12700">
            <a:solidFill>
              <a:schemeClr val="bg2"/>
            </a:solidFill>
            <a:prstDash val="solid"/>
          </a:ln>
        </p:spPr>
      </p:sp>
      <p:sp>
        <p:nvSpPr>
          <p:cNvPr id="11" name="costnum-2"/>
          <p:cNvSpPr txBox="1"/>
          <p:nvPr/>
        </p:nvSpPr>
        <p:spPr>
          <a:xfrm>
            <a:off x="6263640" y="3611880"/>
            <a:ext cx="1051560" cy="9601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4.5x</a:t>
            </a:r>
            <a:endParaRPr lang="en-US" sz="2200" dirty="0"/>
          </a:p>
        </p:txBody>
      </p:sp>
      <p:sp>
        <p:nvSpPr>
          <p:cNvPr id="12" name="costlbl-2"/>
          <p:cNvSpPr txBox="1"/>
          <p:nvPr/>
        </p:nvSpPr>
        <p:spPr>
          <a:xfrm>
            <a:off x="7315200" y="3611880"/>
            <a:ext cx="1325880" cy="960120"/>
          </a:xfrm>
          <a:prstGeom prst="rect">
            <a:avLst/>
          </a:prstGeom>
          <a:noFill/>
          <a:ln/>
        </p:spPr>
        <p:txBody>
          <a:bodyPr wrap="square" lIns="0" tIns="0" rIns="0" bIns="0" rtlCol="0" anchor="ctr"/>
          <a:lstStyle/>
          <a:p>
            <a:pPr indent="0" marL="0">
              <a:buNone/>
            </a:pPr>
            <a:r>
              <a:rPr lang="en-US" sz="1200" dirty="0">
                <a:solidFill>
                  <a:schemeClr val="tx2"/>
                </a:solidFill>
              </a:rPr>
              <a:t>faster after removing dead neurons, 99%</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E556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Serving it at scale</a:t>
            </a:r>
            <a:endParaRPr lang="en-US" sz="3000" dirty="0"/>
          </a:p>
        </p:txBody>
      </p:sp>
      <p:sp>
        <p:nvSpPr>
          <p:cNvPr id="3" name="serve-0"/>
          <p:cNvSpPr/>
          <p:nvPr/>
        </p:nvSpPr>
        <p:spPr>
          <a:xfrm>
            <a:off x="457200" y="1143000"/>
            <a:ext cx="2651760" cy="3520440"/>
          </a:xfrm>
          <a:prstGeom prst="roundRect">
            <a:avLst>
              <a:gd name="adj" fmla="val 34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bg-serve0"/>
          <p:cNvSpPr/>
          <p:nvPr/>
        </p:nvSpPr>
        <p:spPr>
          <a:xfrm>
            <a:off x="640080" y="1325880"/>
            <a:ext cx="548640" cy="548640"/>
          </a:xfrm>
          <a:prstGeom prst="ellipse">
            <a:avLst/>
          </a:prstGeom>
          <a:solidFill>
            <a:srgbClr val="0E7C86"/>
          </a:solidFill>
          <a:ln w="12700">
            <a:solidFill>
              <a:srgbClr val="0E7C86"/>
            </a:solidFill>
            <a:prstDash val="solid"/>
          </a:ln>
        </p:spPr>
      </p:sp>
      <p:pic>
        <p:nvPicPr>
          <p:cNvPr id="5" name="icon-serve0" descr="serve0">    </p:cNvPr>
          <p:cNvPicPr>
            <a:picLocks noChangeAspect="1"/>
          </p:cNvPicPr>
          <p:nvPr/>
        </p:nvPicPr>
        <p:blipFill>
          <a:blip r:embed="rId1"/>
          <a:stretch>
            <a:fillRect/>
          </a:stretch>
        </p:blipFill>
        <p:spPr>
          <a:xfrm>
            <a:off x="777240" y="1463040"/>
            <a:ext cx="274320" cy="274320"/>
          </a:xfrm>
          <a:prstGeom prst="rect">
            <a:avLst/>
          </a:prstGeom>
        </p:spPr>
      </p:pic>
      <p:sp>
        <p:nvSpPr>
          <p:cNvPr id="6" name="servehead-0"/>
          <p:cNvSpPr txBox="1"/>
          <p:nvPr/>
        </p:nvSpPr>
        <p:spPr>
          <a:xfrm>
            <a:off x="640080" y="1965960"/>
            <a:ext cx="2286000" cy="4114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Do not serve zeros</a:t>
            </a:r>
            <a:endParaRPr lang="en-US" sz="1700" dirty="0"/>
          </a:p>
        </p:txBody>
      </p:sp>
      <p:sp>
        <p:nvSpPr>
          <p:cNvPr id="7" name="servebody-0"/>
          <p:cNvSpPr txBox="1"/>
          <p:nvPr/>
        </p:nvSpPr>
        <p:spPr>
          <a:xfrm>
            <a:off x="640080" y="2468880"/>
            <a:ext cx="23317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Prefer structured or N:M sparsity</a:t>
            </a:r>
            <a:endParaRPr lang="en-US" sz="1400" dirty="0"/>
          </a:p>
          <a:p>
            <a:pPr marL="342900" indent="-342900">
              <a:spcAft>
                <a:spcPts val="600"/>
              </a:spcAft>
              <a:buSzPct val="100000"/>
              <a:buChar char="•"/>
            </a:pPr>
            <a:r>
              <a:rPr lang="en-US" sz="1400" dirty="0">
                <a:solidFill>
                  <a:schemeClr val="tx1"/>
                </a:solidFill>
              </a:rPr>
              <a:t>Compact dead neurons into dense kernels</a:t>
            </a:r>
            <a:endParaRPr lang="en-US" sz="1400" dirty="0"/>
          </a:p>
          <a:p>
            <a:pPr marL="342900" indent="-342900">
              <a:spcAft>
                <a:spcPts val="600"/>
              </a:spcAft>
              <a:buSzPct val="100000"/>
              <a:buChar char="•"/>
            </a:pPr>
            <a:r>
              <a:rPr lang="en-US" sz="1400" dirty="0">
                <a:solidFill>
                  <a:schemeClr val="tx1"/>
                </a:solidFill>
              </a:rPr>
              <a:t>Unstructured needs a real sparse kernel, and usually pays off only above ~90%</a:t>
            </a:r>
            <a:endParaRPr lang="en-US" sz="1400" dirty="0"/>
          </a:p>
        </p:txBody>
      </p:sp>
      <p:sp>
        <p:nvSpPr>
          <p:cNvPr id="8" name="serve-1"/>
          <p:cNvSpPr/>
          <p:nvPr/>
        </p:nvSpPr>
        <p:spPr>
          <a:xfrm>
            <a:off x="3291840" y="1143000"/>
            <a:ext cx="2651760" cy="3520440"/>
          </a:xfrm>
          <a:prstGeom prst="roundRect">
            <a:avLst>
              <a:gd name="adj" fmla="val 34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bg-serve1"/>
          <p:cNvSpPr/>
          <p:nvPr/>
        </p:nvSpPr>
        <p:spPr>
          <a:xfrm>
            <a:off x="3474720" y="1325880"/>
            <a:ext cx="548640" cy="548640"/>
          </a:xfrm>
          <a:prstGeom prst="ellipse">
            <a:avLst/>
          </a:prstGeom>
          <a:solidFill>
            <a:srgbClr val="0E7C86"/>
          </a:solidFill>
          <a:ln w="12700">
            <a:solidFill>
              <a:srgbClr val="0E7C86"/>
            </a:solidFill>
            <a:prstDash val="solid"/>
          </a:ln>
        </p:spPr>
      </p:sp>
      <p:pic>
        <p:nvPicPr>
          <p:cNvPr id="10" name="icon-serve1" descr="serve1">    </p:cNvPr>
          <p:cNvPicPr>
            <a:picLocks noChangeAspect="1"/>
          </p:cNvPicPr>
          <p:nvPr/>
        </p:nvPicPr>
        <p:blipFill>
          <a:blip r:embed="rId2"/>
          <a:stretch>
            <a:fillRect/>
          </a:stretch>
        </p:blipFill>
        <p:spPr>
          <a:xfrm>
            <a:off x="3611880" y="1463040"/>
            <a:ext cx="274320" cy="274320"/>
          </a:xfrm>
          <a:prstGeom prst="rect">
            <a:avLst/>
          </a:prstGeom>
        </p:spPr>
      </p:pic>
      <p:sp>
        <p:nvSpPr>
          <p:cNvPr id="11" name="servehead-1"/>
          <p:cNvSpPr txBox="1"/>
          <p:nvPr/>
        </p:nvSpPr>
        <p:spPr>
          <a:xfrm>
            <a:off x="3474720" y="1965960"/>
            <a:ext cx="2286000" cy="4114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Multi-tenant</a:t>
            </a:r>
            <a:endParaRPr lang="en-US" sz="1700" dirty="0"/>
          </a:p>
        </p:txBody>
      </p:sp>
      <p:sp>
        <p:nvSpPr>
          <p:cNvPr id="12" name="servebody-1"/>
          <p:cNvSpPr txBox="1"/>
          <p:nvPr/>
        </p:nvSpPr>
        <p:spPr>
          <a:xfrm>
            <a:off x="3474720" y="2468880"/>
            <a:ext cx="23317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Dynamic batching across tenants</a:t>
            </a:r>
            <a:endParaRPr lang="en-US" sz="1400" dirty="0"/>
          </a:p>
          <a:p>
            <a:pPr marL="342900" indent="-342900">
              <a:spcAft>
                <a:spcPts val="600"/>
              </a:spcAft>
              <a:buSzPct val="100000"/>
              <a:buChar char="•"/>
            </a:pPr>
            <a:r>
              <a:rPr lang="en-US" sz="1400" dirty="0">
                <a:solidFill>
                  <a:schemeClr val="tx1"/>
                </a:solidFill>
              </a:rPr>
              <a:t>Versioned model registry, canary rollout</a:t>
            </a:r>
            <a:endParaRPr lang="en-US" sz="1400" dirty="0"/>
          </a:p>
          <a:p>
            <a:pPr marL="342900" indent="-342900">
              <a:spcAft>
                <a:spcPts val="600"/>
              </a:spcAft>
              <a:buSzPct val="100000"/>
              <a:buChar char="•"/>
            </a:pPr>
            <a:r>
              <a:rPr lang="en-US" sz="1400" dirty="0">
                <a:solidFill>
                  <a:schemeClr val="tx1"/>
                </a:solidFill>
              </a:rPr>
              <a:t>Accuracy gate per slice, not just average</a:t>
            </a:r>
            <a:endParaRPr lang="en-US" sz="1400" dirty="0"/>
          </a:p>
          <a:p>
            <a:pPr marL="342900" indent="-342900">
              <a:spcAft>
                <a:spcPts val="600"/>
              </a:spcAft>
              <a:buSzPct val="100000"/>
              <a:buChar char="•"/>
            </a:pPr>
            <a:r>
              <a:rPr lang="en-US" sz="1400" dirty="0">
                <a:solidFill>
                  <a:schemeClr val="tx1"/>
                </a:solidFill>
              </a:rPr>
              <a:t>Per-tenant concurrency limits</a:t>
            </a:r>
            <a:endParaRPr lang="en-US" sz="1400" dirty="0"/>
          </a:p>
        </p:txBody>
      </p:sp>
      <p:sp>
        <p:nvSpPr>
          <p:cNvPr id="13" name="serve-2"/>
          <p:cNvSpPr/>
          <p:nvPr/>
        </p:nvSpPr>
        <p:spPr>
          <a:xfrm>
            <a:off x="6126480" y="1143000"/>
            <a:ext cx="2651760" cy="3520440"/>
          </a:xfrm>
          <a:prstGeom prst="roundRect">
            <a:avLst>
              <a:gd name="adj" fmla="val 34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iconbg-serve2"/>
          <p:cNvSpPr/>
          <p:nvPr/>
        </p:nvSpPr>
        <p:spPr>
          <a:xfrm>
            <a:off x="6309360" y="1325880"/>
            <a:ext cx="548640" cy="548640"/>
          </a:xfrm>
          <a:prstGeom prst="ellipse">
            <a:avLst/>
          </a:prstGeom>
          <a:solidFill>
            <a:srgbClr val="0E7C86"/>
          </a:solidFill>
          <a:ln w="12700">
            <a:solidFill>
              <a:srgbClr val="0E7C86"/>
            </a:solidFill>
            <a:prstDash val="solid"/>
          </a:ln>
        </p:spPr>
      </p:sp>
      <p:pic>
        <p:nvPicPr>
          <p:cNvPr id="15" name="icon-serve2" descr="serve2">    </p:cNvPr>
          <p:cNvPicPr>
            <a:picLocks noChangeAspect="1"/>
          </p:cNvPicPr>
          <p:nvPr/>
        </p:nvPicPr>
        <p:blipFill>
          <a:blip r:embed="rId3"/>
          <a:stretch>
            <a:fillRect/>
          </a:stretch>
        </p:blipFill>
        <p:spPr>
          <a:xfrm>
            <a:off x="6446520" y="1463040"/>
            <a:ext cx="274320" cy="274320"/>
          </a:xfrm>
          <a:prstGeom prst="rect">
            <a:avLst/>
          </a:prstGeom>
        </p:spPr>
      </p:pic>
      <p:sp>
        <p:nvSpPr>
          <p:cNvPr id="16" name="servehead-2"/>
          <p:cNvSpPr txBox="1"/>
          <p:nvPr/>
        </p:nvSpPr>
        <p:spPr>
          <a:xfrm>
            <a:off x="6309360" y="1965960"/>
            <a:ext cx="2286000" cy="4114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Measure what matters</a:t>
            </a:r>
            <a:endParaRPr lang="en-US" sz="1700" dirty="0"/>
          </a:p>
        </p:txBody>
      </p:sp>
      <p:sp>
        <p:nvSpPr>
          <p:cNvPr id="17" name="servebody-2"/>
          <p:cNvSpPr txBox="1"/>
          <p:nvPr/>
        </p:nvSpPr>
        <p:spPr>
          <a:xfrm>
            <a:off x="6309360" y="2468880"/>
            <a:ext cx="23317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p50 and p99 latency</a:t>
            </a:r>
            <a:endParaRPr lang="en-US" sz="1400" dirty="0"/>
          </a:p>
          <a:p>
            <a:pPr marL="342900" indent="-342900">
              <a:spcAft>
                <a:spcPts val="600"/>
              </a:spcAft>
              <a:buSzPct val="100000"/>
              <a:buChar char="•"/>
            </a:pPr>
            <a:r>
              <a:rPr lang="en-US" sz="1400" dirty="0">
                <a:solidFill>
                  <a:schemeClr val="tx1"/>
                </a:solidFill>
              </a:rPr>
              <a:t>Cost per 1,000 requests</a:t>
            </a:r>
            <a:endParaRPr lang="en-US" sz="1400" dirty="0"/>
          </a:p>
          <a:p>
            <a:pPr marL="342900" indent="-342900">
              <a:spcAft>
                <a:spcPts val="600"/>
              </a:spcAft>
              <a:buSzPct val="100000"/>
              <a:buChar char="•"/>
            </a:pPr>
            <a:r>
              <a:rPr lang="en-US" sz="1400" dirty="0">
                <a:solidFill>
                  <a:schemeClr val="tx1"/>
                </a:solidFill>
              </a:rPr>
              <a:t>Not FLOPs: my own sparse kernel cut FLOPs 20x and got slower</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E556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411480"/>
            <a:ext cx="8046720" cy="73152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What I claim, and what I don't</a:t>
            </a:r>
            <a:endParaRPr lang="en-US" sz="3400" dirty="0"/>
          </a:p>
        </p:txBody>
      </p:sp>
      <p:sp>
        <p:nvSpPr>
          <p:cNvPr id="3" name="claim-0"/>
          <p:cNvSpPr/>
          <p:nvPr/>
        </p:nvSpPr>
        <p:spPr>
          <a:xfrm>
            <a:off x="548640" y="1280160"/>
            <a:ext cx="3931920" cy="2743200"/>
          </a:xfrm>
          <a:prstGeom prst="roundRect">
            <a:avLst>
              <a:gd name="adj" fmla="val 3333"/>
            </a:avLst>
          </a:prstGeom>
          <a:solidFill>
            <a:schemeClr val="tx2"/>
          </a:solidFill>
          <a:ln w="12700">
            <a:solidFill>
              <a:schemeClr val="tx2"/>
            </a:solidFill>
            <a:prstDash val="solid"/>
          </a:ln>
        </p:spPr>
      </p:sp>
      <p:sp>
        <p:nvSpPr>
          <p:cNvPr id="4" name="iconbg-claim0"/>
          <p:cNvSpPr/>
          <p:nvPr/>
        </p:nvSpPr>
        <p:spPr>
          <a:xfrm>
            <a:off x="731520" y="1417320"/>
            <a:ext cx="457200" cy="457200"/>
          </a:xfrm>
          <a:prstGeom prst="ellipse">
            <a:avLst/>
          </a:prstGeom>
          <a:solidFill>
            <a:srgbClr val="2E9E6B"/>
          </a:solidFill>
          <a:ln w="12700">
            <a:solidFill>
              <a:srgbClr val="2E9E6B"/>
            </a:solidFill>
            <a:prstDash val="solid"/>
          </a:ln>
        </p:spPr>
      </p:sp>
      <p:pic>
        <p:nvPicPr>
          <p:cNvPr id="5" name="icon-claim0" descr="claim0">    </p:cNvPr>
          <p:cNvPicPr>
            <a:picLocks noChangeAspect="1"/>
          </p:cNvPicPr>
          <p:nvPr/>
        </p:nvPicPr>
        <p:blipFill>
          <a:blip r:embed="rId1"/>
          <a:stretch>
            <a:fillRect/>
          </a:stretch>
        </p:blipFill>
        <p:spPr>
          <a:xfrm>
            <a:off x="845820" y="1531620"/>
            <a:ext cx="228600" cy="228600"/>
          </a:xfrm>
          <a:prstGeom prst="rect">
            <a:avLst/>
          </a:prstGeom>
        </p:spPr>
      </p:pic>
      <p:sp>
        <p:nvSpPr>
          <p:cNvPr id="6" name="claimhead-0"/>
          <p:cNvSpPr txBox="1"/>
          <p:nvPr/>
        </p:nvSpPr>
        <p:spPr>
          <a:xfrm>
            <a:off x="1325880" y="1417320"/>
            <a:ext cx="292608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Supported</a:t>
            </a:r>
            <a:endParaRPr lang="en-US" sz="2000" dirty="0"/>
          </a:p>
        </p:txBody>
      </p:sp>
      <p:sp>
        <p:nvSpPr>
          <p:cNvPr id="7" name="claimbody-0"/>
          <p:cNvSpPr txBox="1"/>
          <p:nvPr/>
        </p:nvSpPr>
        <p:spPr>
          <a:xfrm>
            <a:off x="777240" y="2011680"/>
            <a:ext cx="352044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99% sparsity costs about 1.5 pp (96.6 to 97.3% vs 98.2% dense, 8 seeds)</a:t>
            </a:r>
            <a:endParaRPr lang="en-US" sz="1400" dirty="0"/>
          </a:p>
          <a:p>
            <a:pPr marL="342900" indent="-342900">
              <a:spcAft>
                <a:spcPts val="600"/>
              </a:spcAft>
              <a:buSzPct val="100000"/>
              <a:buChar char="•"/>
            </a:pPr>
            <a:r>
              <a:rPr lang="en-US" sz="1400" dirty="0">
                <a:solidFill>
                  <a:schemeClr val="bg1"/>
                </a:solidFill>
              </a:rPr>
              <a:t>Fisher tracks true loss change better than magnitude (0.65 vs 0.51)</a:t>
            </a:r>
            <a:endParaRPr lang="en-US" sz="1400" dirty="0"/>
          </a:p>
          <a:p>
            <a:pPr marL="342900" indent="-342900">
              <a:spcAft>
                <a:spcPts val="600"/>
              </a:spcAft>
              <a:buSzPct val="100000"/>
              <a:buChar char="•"/>
            </a:pPr>
            <a:r>
              <a:rPr lang="en-US" sz="1400" dirty="0">
                <a:solidFill>
                  <a:schemeClr val="bg1"/>
                </a:solidFill>
              </a:rPr>
              <a:t>MACs fall 100x; compaction gives a real 4.5x speedup</a:t>
            </a:r>
            <a:endParaRPr lang="en-US" sz="1400" dirty="0"/>
          </a:p>
        </p:txBody>
      </p:sp>
      <p:sp>
        <p:nvSpPr>
          <p:cNvPr id="8" name="claim-1"/>
          <p:cNvSpPr/>
          <p:nvPr/>
        </p:nvSpPr>
        <p:spPr>
          <a:xfrm>
            <a:off x="4663440" y="1280160"/>
            <a:ext cx="3931920" cy="2743200"/>
          </a:xfrm>
          <a:prstGeom prst="roundRect">
            <a:avLst>
              <a:gd name="adj" fmla="val 3333"/>
            </a:avLst>
          </a:prstGeom>
          <a:solidFill>
            <a:schemeClr val="tx2"/>
          </a:solidFill>
          <a:ln w="12700">
            <a:solidFill>
              <a:schemeClr val="tx2"/>
            </a:solidFill>
            <a:prstDash val="solid"/>
          </a:ln>
        </p:spPr>
      </p:sp>
      <p:sp>
        <p:nvSpPr>
          <p:cNvPr id="9" name="iconbg-claim1"/>
          <p:cNvSpPr/>
          <p:nvPr/>
        </p:nvSpPr>
        <p:spPr>
          <a:xfrm>
            <a:off x="4846320" y="1417320"/>
            <a:ext cx="457200" cy="457200"/>
          </a:xfrm>
          <a:prstGeom prst="ellipse">
            <a:avLst/>
          </a:prstGeom>
          <a:solidFill>
            <a:srgbClr val="D64F4F"/>
          </a:solidFill>
          <a:ln w="12700">
            <a:solidFill>
              <a:srgbClr val="D64F4F"/>
            </a:solidFill>
            <a:prstDash val="solid"/>
          </a:ln>
        </p:spPr>
      </p:sp>
      <p:pic>
        <p:nvPicPr>
          <p:cNvPr id="10" name="icon-claim1" descr="claim1">    </p:cNvPr>
          <p:cNvPicPr>
            <a:picLocks noChangeAspect="1"/>
          </p:cNvPicPr>
          <p:nvPr/>
        </p:nvPicPr>
        <p:blipFill>
          <a:blip r:embed="rId2"/>
          <a:stretch>
            <a:fillRect/>
          </a:stretch>
        </p:blipFill>
        <p:spPr>
          <a:xfrm>
            <a:off x="4960620" y="1531620"/>
            <a:ext cx="228600" cy="228600"/>
          </a:xfrm>
          <a:prstGeom prst="rect">
            <a:avLst/>
          </a:prstGeom>
        </p:spPr>
      </p:pic>
      <p:sp>
        <p:nvSpPr>
          <p:cNvPr id="11" name="claimhead-1"/>
          <p:cNvSpPr txBox="1"/>
          <p:nvPr/>
        </p:nvSpPr>
        <p:spPr>
          <a:xfrm>
            <a:off x="5440680" y="1417320"/>
            <a:ext cx="292608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Not supported</a:t>
            </a:r>
            <a:endParaRPr lang="en-US" sz="2000" dirty="0"/>
          </a:p>
        </p:txBody>
      </p:sp>
      <p:sp>
        <p:nvSpPr>
          <p:cNvPr id="12" name="claimbody-1"/>
          <p:cNvSpPr txBox="1"/>
          <p:nvPr/>
        </p:nvSpPr>
        <p:spPr>
          <a:xfrm>
            <a:off x="4892040" y="2011680"/>
            <a:ext cx="352044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That saliency beats magnitude in final accuracy: all intervals include 0</a:t>
            </a:r>
            <a:endParaRPr lang="en-US" sz="1400" dirty="0"/>
          </a:p>
          <a:p>
            <a:pPr marL="342900" indent="-342900">
              <a:spcAft>
                <a:spcPts val="600"/>
              </a:spcAft>
              <a:buSzPct val="100000"/>
              <a:buChar char="•"/>
            </a:pPr>
            <a:r>
              <a:rPr lang="en-US" sz="1400" dirty="0">
                <a:solidFill>
                  <a:schemeClr val="bg1"/>
                </a:solidFill>
              </a:rPr>
              <a:t>That my sparse NumPy kernel is faster than BLAS</a:t>
            </a:r>
            <a:endParaRPr lang="en-US" sz="1400" dirty="0"/>
          </a:p>
          <a:p>
            <a:pPr marL="342900" indent="-342900">
              <a:spcAft>
                <a:spcPts val="600"/>
              </a:spcAft>
              <a:buSzPct val="100000"/>
              <a:buChar char="•"/>
            </a:pPr>
            <a:r>
              <a:rPr lang="en-US" sz="1400" dirty="0">
                <a:solidFill>
                  <a:schemeClr val="bg1"/>
                </a:solidFill>
              </a:rPr>
              <a:t>That results transfer beyond this easy dataset</a:t>
            </a:r>
            <a:endParaRPr lang="en-US" sz="1400" dirty="0"/>
          </a:p>
        </p:txBody>
      </p:sp>
      <p:sp>
        <p:nvSpPr>
          <p:cNvPr id="13" name="nextsteps"/>
          <p:cNvSpPr txBox="1"/>
          <p:nvPr/>
        </p:nvSpPr>
        <p:spPr>
          <a:xfrm>
            <a:off x="548640" y="4251960"/>
            <a:ext cx="8046720" cy="457200"/>
          </a:xfrm>
          <a:prstGeom prst="rect">
            <a:avLst/>
          </a:prstGeom>
          <a:noFill/>
          <a:ln/>
        </p:spPr>
        <p:txBody>
          <a:bodyPr wrap="square" lIns="0" tIns="0" rIns="0" bIns="0" rtlCol="0" anchor="ctr"/>
          <a:lstStyle/>
          <a:p>
            <a:pPr indent="0" marL="0">
              <a:buNone/>
            </a:pPr>
            <a:r>
              <a:rPr lang="en-US" sz="1600" dirty="0">
                <a:solidFill>
                  <a:schemeClr val="accent6"/>
                </a:solidFill>
              </a:rPr>
              <a:t>Next: harder dataset (Fashion-MNIST), more seeds, structured sparsity for real serving speed.</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D3D9"/>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AquaDeep">
  <a:themeElements>
    <a:clrScheme name="AquaDeep">
      <a:dk1>
        <a:srgbClr val="0B2A3C"/>
      </a:dk1>
      <a:lt1>
        <a:srgbClr val="FFFFFF"/>
      </a:lt1>
      <a:dk2>
        <a:srgbClr val="3E5563"/>
      </a:dk2>
      <a:lt2>
        <a:srgbClr val="EAF4F6"/>
      </a:lt2>
      <a:accent1>
        <a:srgbClr val="0E7C86"/>
      </a:accent1>
      <a:accent2>
        <a:srgbClr val="F2994A"/>
      </a:accent2>
      <a:accent3>
        <a:srgbClr val="5B8DB8"/>
      </a:accent3>
      <a:accent4>
        <a:srgbClr val="2E9E6B"/>
      </a:accent4>
      <a:accent5>
        <a:srgbClr val="D64F4F"/>
      </a:accent5>
      <a:accent6>
        <a:srgbClr val="8FD3D9"/>
      </a:accent6>
      <a:hlink>
        <a:srgbClr val="0E7C86"/>
      </a:hlink>
      <a:folHlink>
        <a:srgbClr val="3E5563"/>
      </a:folHlink>
    </a:clrScheme>
    <a:fontScheme name="AquaDee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Self-Pruning Network</dc:title>
  <dc:subject>PptxGenJS Presentation</dc:subject>
  <dc:creator>AQUA case study</dc:creator>
  <cp:lastModifiedBy>AQUA case study</cp:lastModifiedBy>
  <cp:revision>1</cp:revision>
  <dcterms:created xsi:type="dcterms:W3CDTF">2026-10-20T11:56:33Z</dcterms:created>
  <dcterms:modified xsi:type="dcterms:W3CDTF">2026-10-20T11:56:33Z</dcterms:modified>
</cp:coreProperties>
</file>